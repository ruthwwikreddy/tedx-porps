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800" b="1" dirty="0">
                <a:solidFill>
                  <a:srgbClr val="EB0028"/>
                </a:solidFill>
                <a:latin typeface="Helvetica" pitchFamily="34" charset="0"/>
                <a:ea typeface="Helvetica" pitchFamily="34" charset="-122"/>
                <a:cs typeface="Helvetica" pitchFamily="34" charset="-120"/>
              </a:rPr>
              <a:t>TED</a:t>
            </a:r>
            <a:pPr algn="l" indent="0" marL="0">
              <a:buNone/>
            </a:pPr>
            <a:r>
              <a:rPr lang="en-US" sz="1800" b="1" dirty="0">
                <a:solidFill>
                  <a:srgbClr val="EB0028"/>
                </a:solidFill>
                <a:latin typeface="Helvetica" pitchFamily="34" charset="0"/>
                <a:ea typeface="Helvetica" pitchFamily="34" charset="-122"/>
                <a:cs typeface="Helvetica" pitchFamily="34" charset="-120"/>
              </a:rPr>
              <a:t>x</a:t>
            </a:r>
            <a:pPr algn="l" indent="0" marL="0">
              <a:buNone/>
            </a:pPr>
            <a:r>
              <a:rPr lang="en-US" sz="1800" b="1" dirty="0">
                <a:solidFill>
                  <a:srgbClr val="000000"/>
                </a:solidFill>
                <a:latin typeface="Helvetica" pitchFamily="34" charset="0"/>
                <a:ea typeface="Helvetica" pitchFamily="34" charset="-122"/>
                <a:cs typeface="Helvetica" pitchFamily="34" charset="-120"/>
              </a:rPr>
              <a:t>PORPS </a:t>
            </a:r>
            <a:pPr algn="l" indent="0" marL="0">
              <a:buNone/>
            </a:pPr>
            <a:r>
              <a:rPr lang="en-US" sz="1800" b="1" dirty="0">
                <a:solidFill>
                  <a:srgbClr val="EB0028"/>
                </a:solidFill>
                <a:latin typeface="Helvetica" pitchFamily="34" charset="0"/>
                <a:ea typeface="Helvetica" pitchFamily="34" charset="-122"/>
                <a:cs typeface="Helvetica" pitchFamily="34" charset="-120"/>
              </a:rPr>
              <a:t>Youth</a:t>
            </a:r>
            <a:endParaRPr lang="en-US" sz="18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200" b="1" dirty="0">
                <a:solidFill>
                  <a:srgbClr val="EB0028"/>
                </a:solidFill>
                <a:latin typeface="Helvetica" pitchFamily="34" charset="0"/>
                <a:ea typeface="Helvetica" pitchFamily="34" charset="-122"/>
                <a:cs typeface="Helvetica" pitchFamily="34" charset="-120"/>
              </a:rPr>
              <a:t>SPONSORSHIP PROPOSAL • 2026</a:t>
            </a:r>
            <a:endParaRPr lang="en-US" sz="1200" dirty="0"/>
          </a:p>
        </p:txBody>
      </p:sp>
      <p:sp>
        <p:nvSpPr>
          <p:cNvPr id="4" name="Shape 2"/>
          <p:cNvSpPr/>
          <p:nvPr/>
        </p:nvSpPr>
        <p:spPr>
          <a:xfrm>
            <a:off x="731520" y="1280160"/>
            <a:ext cx="548640" cy="64008"/>
          </a:xfrm>
          <a:prstGeom prst="rect">
            <a:avLst/>
          </a:prstGeom>
          <a:solidFill>
            <a:srgbClr val="EB0028"/>
          </a:solidFill>
          <a:ln/>
        </p:spPr>
      </p:sp>
      <p:sp>
        <p:nvSpPr>
          <p:cNvPr id="5" name="Text 3"/>
          <p:cNvSpPr/>
          <p:nvPr/>
        </p:nvSpPr>
        <p:spPr>
          <a:xfrm>
            <a:off x="731520" y="1463040"/>
            <a:ext cx="7680960" cy="2377440"/>
          </a:xfrm>
          <a:prstGeom prst="rect">
            <a:avLst/>
          </a:prstGeom>
          <a:noFill/>
          <a:ln/>
        </p:spPr>
        <p:txBody>
          <a:bodyPr wrap="square" rtlCol="0" anchor="ctr"/>
          <a:lstStyle/>
          <a:p>
            <a:pPr indent="0" marL="0">
              <a:lnSpc>
                <a:spcPts val="4600"/>
              </a:lnSpc>
              <a:buNone/>
            </a:pPr>
            <a:r>
              <a:rPr lang="en-US" sz="4400" b="1" dirty="0">
                <a:solidFill>
                  <a:srgbClr val="000000"/>
                </a:solidFill>
                <a:latin typeface="Helvetica" pitchFamily="34" charset="0"/>
                <a:ea typeface="Helvetica" pitchFamily="34" charset="-122"/>
                <a:cs typeface="Helvetica" pitchFamily="34" charset="-120"/>
              </a:rPr>
              <a:t>THE NEXT
</a:t>
            </a:r>
            <a:pPr indent="0" marL="0">
              <a:lnSpc>
                <a:spcPts val="4600"/>
              </a:lnSpc>
              <a:buNone/>
            </a:pPr>
            <a:r>
              <a:rPr lang="en-US" sz="4400" b="1" dirty="0">
                <a:solidFill>
                  <a:srgbClr val="000000"/>
                </a:solidFill>
                <a:latin typeface="Helvetica" pitchFamily="34" charset="0"/>
                <a:ea typeface="Helvetica" pitchFamily="34" charset="-122"/>
                <a:cs typeface="Helvetica" pitchFamily="34" charset="-120"/>
              </a:rPr>
              <a:t>IDEAS
</a:t>
            </a:r>
            <a:pPr indent="0" marL="0">
              <a:lnSpc>
                <a:spcPts val="4600"/>
              </a:lnSpc>
              <a:buNone/>
            </a:pPr>
            <a:r>
              <a:rPr lang="en-US" sz="4400" b="1" dirty="0">
                <a:solidFill>
                  <a:srgbClr val="EB0028"/>
                </a:solidFill>
                <a:latin typeface="Helvetica" pitchFamily="34" charset="0"/>
                <a:ea typeface="Helvetica" pitchFamily="34" charset="-122"/>
                <a:cs typeface="Helvetica" pitchFamily="34" charset="-120"/>
              </a:rPr>
              <a:t>START HERE.</a:t>
            </a:r>
            <a:endParaRPr lang="en-US" sz="4400" dirty="0"/>
          </a:p>
        </p:txBody>
      </p:sp>
      <p:sp>
        <p:nvSpPr>
          <p:cNvPr id="6" name="Shape 4"/>
          <p:cNvSpPr/>
          <p:nvPr/>
        </p:nvSpPr>
        <p:spPr>
          <a:xfrm>
            <a:off x="731520" y="4206240"/>
            <a:ext cx="7680960" cy="0"/>
          </a:xfrm>
          <a:prstGeom prst="line">
            <a:avLst/>
          </a:prstGeom>
          <a:noFill/>
          <a:ln w="12700">
            <a:solidFill>
              <a:srgbClr val="E2E2E2"/>
            </a:solidFill>
            <a:prstDash val="solid"/>
          </a:ln>
        </p:spPr>
      </p:sp>
      <p:sp>
        <p:nvSpPr>
          <p:cNvPr id="7" name="Text 5"/>
          <p:cNvSpPr/>
          <p:nvPr/>
        </p:nvSpPr>
        <p:spPr>
          <a:xfrm>
            <a:off x="731520" y="4297680"/>
            <a:ext cx="5486400" cy="777240"/>
          </a:xfrm>
          <a:prstGeom prst="rect">
            <a:avLst/>
          </a:prstGeom>
          <a:noFill/>
          <a:ln/>
        </p:spPr>
        <p:txBody>
          <a:bodyPr wrap="square" rtlCol="0" anchor="ctr"/>
          <a:lstStyle/>
          <a:p>
            <a:pPr indent="0" marL="0">
              <a:lnSpc>
                <a:spcPts val="1600"/>
              </a:lnSpc>
              <a:buNone/>
            </a:pPr>
            <a:r>
              <a:rPr lang="en-US" sz="1600" b="1" dirty="0">
                <a:solidFill>
                  <a:srgbClr val="EB0028"/>
                </a:solidFill>
                <a:latin typeface="Helvetica" pitchFamily="34" charset="0"/>
                <a:ea typeface="Helvetica" pitchFamily="34" charset="-122"/>
                <a:cs typeface="Helvetica" pitchFamily="34" charset="-120"/>
              </a:rPr>
              <a:t>SPONSORSHIP DECK
</a:t>
            </a:r>
            <a:pPr indent="0" marL="0">
              <a:lnSpc>
                <a:spcPts val="1600"/>
              </a:lnSpc>
              <a:buNone/>
            </a:pPr>
            <a:r>
              <a:rPr lang="en-US" sz="1100" b="1" dirty="0">
                <a:solidFill>
                  <a:srgbClr val="000000"/>
                </a:solidFill>
                <a:latin typeface="Helvetica" pitchFamily="34" charset="0"/>
                <a:ea typeface="Helvetica" pitchFamily="34" charset="-122"/>
                <a:cs typeface="Helvetica" pitchFamily="34" charset="-120"/>
              </a:rPr>
              <a:t>P. Obul Reddy Public School, Jubilee Hills, Hyderabad
</a:t>
            </a:r>
            <a:pPr indent="0" marL="0">
              <a:lnSpc>
                <a:spcPts val="1600"/>
              </a:lnSpc>
              <a:buNone/>
            </a:pPr>
            <a:r>
              <a:rPr lang="en-US" sz="1000" dirty="0">
                <a:solidFill>
                  <a:srgbClr val="555555"/>
                </a:solidFill>
                <a:latin typeface="Helvetica" pitchFamily="34" charset="0"/>
                <a:ea typeface="Helvetica" pitchFamily="34" charset="-122"/>
                <a:cs typeface="Helvetica" pitchFamily="34" charset="-120"/>
              </a:rPr>
              <a:t>21 November 2026 • Independently Organised TEDx Event</a:t>
            </a:r>
            <a:endParaRPr lang="en-US" sz="1600" dirty="0"/>
          </a:p>
        </p:txBody>
      </p:sp>
      <p:sp>
        <p:nvSpPr>
          <p:cNvPr id="8" name="Text 6"/>
          <p:cNvSpPr/>
          <p:nvPr/>
        </p:nvSpPr>
        <p:spPr>
          <a:xfrm>
            <a:off x="6400800" y="4526280"/>
            <a:ext cx="201168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01 / 20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02 — PARTNERSHIP INVITATION</a:t>
            </a:r>
            <a:endParaRPr lang="en-US" sz="1000" dirty="0"/>
          </a:p>
        </p:txBody>
      </p:sp>
      <p:sp>
        <p:nvSpPr>
          <p:cNvPr id="4" name="Text 2"/>
          <p:cNvSpPr/>
          <p:nvPr/>
        </p:nvSpPr>
        <p:spPr>
          <a:xfrm>
            <a:off x="731520" y="1188720"/>
            <a:ext cx="3657600" cy="1645920"/>
          </a:xfrm>
          <a:prstGeom prst="rect">
            <a:avLst/>
          </a:prstGeom>
          <a:noFill/>
          <a:ln/>
        </p:spPr>
        <p:txBody>
          <a:bodyPr wrap="square" rtlCol="0" anchor="ctr"/>
          <a:lstStyle/>
          <a:p>
            <a:pPr indent="0" marL="0">
              <a:buNone/>
            </a:pPr>
            <a:r>
              <a:rPr lang="en-US" sz="2600" b="1" dirty="0">
                <a:solidFill>
                  <a:srgbClr val="000000"/>
                </a:solidFill>
                <a:latin typeface="Helvetica" pitchFamily="34" charset="0"/>
                <a:ea typeface="Helvetica" pitchFamily="34" charset="-122"/>
                <a:cs typeface="Helvetica" pitchFamily="34" charset="-120"/>
              </a:rPr>
              <a:t>Partner with us. Support ideas.</a:t>
            </a:r>
            <a:endParaRPr lang="en-US" sz="2600" dirty="0"/>
          </a:p>
          <a:p>
            <a:pPr indent="0" marL="0">
              <a:buNone/>
            </a:pPr>
            <a:r>
              <a:rPr lang="en-US" sz="2600" b="1" dirty="0">
                <a:solidFill>
                  <a:srgbClr val="000000"/>
                </a:solidFill>
                <a:latin typeface="Helvetica" pitchFamily="34" charset="0"/>
                <a:ea typeface="Helvetica" pitchFamily="34" charset="-122"/>
                <a:cs typeface="Helvetica" pitchFamily="34" charset="-120"/>
              </a:rPr>
              <a:t>Be part of the conversation.</a:t>
            </a:r>
            <a:endParaRPr lang="en-US" sz="2600" dirty="0"/>
          </a:p>
        </p:txBody>
      </p:sp>
      <p:sp>
        <p:nvSpPr>
          <p:cNvPr id="5" name="Text 3"/>
          <p:cNvSpPr/>
          <p:nvPr/>
        </p:nvSpPr>
        <p:spPr>
          <a:xfrm>
            <a:off x="731520" y="2926080"/>
            <a:ext cx="3657600" cy="1280160"/>
          </a:xfrm>
          <a:prstGeom prst="rect">
            <a:avLst/>
          </a:prstGeom>
          <a:noFill/>
          <a:ln/>
        </p:spPr>
        <p:txBody>
          <a:bodyPr wrap="square" rtlCol="0" anchor="ctr"/>
          <a:lstStyle/>
          <a:p>
            <a:pPr indent="0" marL="0">
              <a:buNone/>
            </a:pPr>
            <a:r>
              <a:rPr lang="en-US" sz="1300" dirty="0">
                <a:solidFill>
                  <a:srgbClr val="555555"/>
                </a:solidFill>
                <a:latin typeface="Helvetica" pitchFamily="34" charset="0"/>
                <a:ea typeface="Helvetica" pitchFamily="34" charset="-122"/>
                <a:cs typeface="Helvetica" pitchFamily="34" charset="-120"/>
              </a:rPr>
              <a:t>We invite forward-thinking organizations to align with an intellectual platform dedicated to unearthing powerful youth perspectives in Hyderabad.</a:t>
            </a:r>
            <a:endParaRPr lang="en-US" sz="1300" dirty="0"/>
          </a:p>
        </p:txBody>
      </p:sp>
      <p:sp>
        <p:nvSpPr>
          <p:cNvPr id="6" name="Shape 4"/>
          <p:cNvSpPr/>
          <p:nvPr/>
        </p:nvSpPr>
        <p:spPr>
          <a:xfrm>
            <a:off x="4754880" y="1371600"/>
            <a:ext cx="36576" cy="2560320"/>
          </a:xfrm>
          <a:prstGeom prst="rect">
            <a:avLst/>
          </a:prstGeom>
          <a:solidFill>
            <a:srgbClr val="EB0028"/>
          </a:solidFill>
          <a:ln/>
        </p:spPr>
      </p:sp>
      <p:sp>
        <p:nvSpPr>
          <p:cNvPr id="7" name="Text 5"/>
          <p:cNvSpPr/>
          <p:nvPr/>
        </p:nvSpPr>
        <p:spPr>
          <a:xfrm>
            <a:off x="5029200" y="1645920"/>
            <a:ext cx="3383280" cy="2011680"/>
          </a:xfrm>
          <a:prstGeom prst="rect">
            <a:avLst/>
          </a:prstGeom>
          <a:noFill/>
          <a:ln/>
        </p:spPr>
        <p:txBody>
          <a:bodyPr wrap="square" rtlCol="0" anchor="ctr"/>
          <a:lstStyle/>
          <a:p>
            <a:pPr indent="0" marL="0">
              <a:buNone/>
            </a:pPr>
            <a:r>
              <a:rPr lang="en-US" sz="1600" b="1" i="1" dirty="0">
                <a:solidFill>
                  <a:srgbClr val="000000"/>
                </a:solidFill>
                <a:latin typeface="Helvetica" pitchFamily="34" charset="0"/>
                <a:ea typeface="Helvetica" pitchFamily="34" charset="-122"/>
                <a:cs typeface="Helvetica" pitchFamily="34" charset="-120"/>
              </a:rPr>
              <a:t>“Platforms like TEDxPORPS Youth do not just showcase present talent; they shape the trajectory of tomorrow’s intellectual discourse.”</a:t>
            </a:r>
            <a:endParaRPr lang="en-US" sz="1600" dirty="0"/>
          </a:p>
        </p:txBody>
      </p:sp>
      <p:sp>
        <p:nvSpPr>
          <p:cNvPr id="8" name="Shape 6"/>
          <p:cNvSpPr/>
          <p:nvPr/>
        </p:nvSpPr>
        <p:spPr>
          <a:xfrm>
            <a:off x="731520" y="4526280"/>
            <a:ext cx="7680960" cy="0"/>
          </a:xfrm>
          <a:prstGeom prst="line">
            <a:avLst/>
          </a:prstGeom>
          <a:noFill/>
          <a:ln w="12700">
            <a:solidFill>
              <a:srgbClr val="E2E2E2"/>
            </a:solidFill>
            <a:prstDash val="solid"/>
          </a:ln>
        </p:spPr>
      </p:sp>
      <p:sp>
        <p:nvSpPr>
          <p:cNvPr id="9" name="Text 7"/>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0" name="Text 8"/>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02 / 20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03 — OVERVIEW</a:t>
            </a:r>
            <a:endParaRPr lang="en-US" sz="1000" dirty="0"/>
          </a:p>
        </p:txBody>
      </p:sp>
      <p:sp>
        <p:nvSpPr>
          <p:cNvPr id="4" name="Text 2"/>
          <p:cNvSpPr/>
          <p:nvPr/>
        </p:nvSpPr>
        <p:spPr>
          <a:xfrm>
            <a:off x="731520" y="1005840"/>
            <a:ext cx="7680960" cy="274320"/>
          </a:xfrm>
          <a:prstGeom prst="rect">
            <a:avLst/>
          </a:prstGeom>
          <a:noFill/>
          <a:ln/>
        </p:spPr>
        <p:txBody>
          <a:bodyPr wrap="square" rtlCol="0" anchor="ctr"/>
          <a:lstStyle/>
          <a:p>
            <a:pPr indent="0" marL="0">
              <a:buNone/>
            </a:pPr>
            <a:r>
              <a:rPr lang="en-US" sz="1000" b="1" dirty="0">
                <a:solidFill>
                  <a:srgbClr val="EB0028"/>
                </a:solidFill>
                <a:latin typeface="Helvetica" pitchFamily="34" charset="0"/>
                <a:ea typeface="Helvetica" pitchFamily="34" charset="-122"/>
                <a:cs typeface="Helvetica" pitchFamily="34" charset="-120"/>
              </a:rPr>
              <a:t>ABOUT THE PLATFORM</a:t>
            </a:r>
            <a:endParaRPr lang="en-US" sz="1000" dirty="0"/>
          </a:p>
        </p:txBody>
      </p:sp>
      <p:sp>
        <p:nvSpPr>
          <p:cNvPr id="5" name="Text 3"/>
          <p:cNvSpPr/>
          <p:nvPr/>
        </p:nvSpPr>
        <p:spPr>
          <a:xfrm>
            <a:off x="731520" y="1280160"/>
            <a:ext cx="7680960" cy="1097280"/>
          </a:xfrm>
          <a:prstGeom prst="rect">
            <a:avLst/>
          </a:prstGeom>
          <a:noFill/>
          <a:ln/>
        </p:spPr>
        <p:txBody>
          <a:bodyPr wrap="square" rtlCol="0" anchor="ctr"/>
          <a:lstStyle/>
          <a:p>
            <a:pPr indent="0" marL="0">
              <a:buNone/>
            </a:pPr>
            <a:r>
              <a:rPr lang="en-US" sz="2200" b="1" dirty="0">
                <a:solidFill>
                  <a:srgbClr val="000000"/>
                </a:solidFill>
                <a:latin typeface="Helvetica" pitchFamily="34" charset="0"/>
                <a:ea typeface="Helvetica" pitchFamily="34" charset="-122"/>
                <a:cs typeface="Helvetica" pitchFamily="34" charset="-120"/>
              </a:rPr>
              <a:t>A student-led crucible for transformative local ideas, global mindsets, and unfiltered dialogue.</a:t>
            </a:r>
            <a:endParaRPr lang="en-US" sz="2200" dirty="0"/>
          </a:p>
        </p:txBody>
      </p:sp>
      <p:sp>
        <p:nvSpPr>
          <p:cNvPr id="6" name="Text 4"/>
          <p:cNvSpPr/>
          <p:nvPr/>
        </p:nvSpPr>
        <p:spPr>
          <a:xfrm>
            <a:off x="731520" y="2560320"/>
            <a:ext cx="7680960" cy="1645920"/>
          </a:xfrm>
          <a:prstGeom prst="rect">
            <a:avLst/>
          </a:prstGeom>
          <a:noFill/>
          <a:ln/>
        </p:spPr>
        <p:txBody>
          <a:bodyPr wrap="square" rtlCol="0" anchor="ctr"/>
          <a:lstStyle/>
          <a:p>
            <a:pPr indent="0" marL="0">
              <a:lnSpc>
                <a:spcPts val="2000"/>
              </a:lnSpc>
              <a:buNone/>
            </a:pPr>
            <a:r>
              <a:rPr lang="en-US" sz="1300" dirty="0">
                <a:solidFill>
                  <a:srgbClr val="555555"/>
                </a:solidFill>
                <a:latin typeface="Helvetica" pitchFamily="34" charset="0"/>
                <a:ea typeface="Helvetica" pitchFamily="34" charset="-122"/>
                <a:cs typeface="Helvetica" pitchFamily="34" charset="-120"/>
              </a:rPr>
              <a:t>TEDxPORPS Youth is built on the belief that young minds possess profound clarity regarding the structures governing our world. Operating under official license from TED, our event brings together dynamic speakers and an engaged community to challenge conventional wisdom.</a:t>
            </a:r>
            <a:endParaRPr lang="en-US" sz="1300" dirty="0"/>
          </a:p>
          <a:p>
            <a:pPr indent="0" marL="0">
              <a:lnSpc>
                <a:spcPts val="2000"/>
              </a:lnSpc>
              <a:buNone/>
            </a:pPr>
            <a:endParaRPr lang="en-US" sz="1300" dirty="0"/>
          </a:p>
          <a:p>
            <a:pPr indent="0" marL="0">
              <a:lnSpc>
                <a:spcPts val="2000"/>
              </a:lnSpc>
              <a:buNone/>
            </a:pPr>
            <a:r>
              <a:rPr lang="en-US" sz="1300" dirty="0">
                <a:solidFill>
                  <a:srgbClr val="555555"/>
                </a:solidFill>
                <a:latin typeface="Helvetica" pitchFamily="34" charset="0"/>
                <a:ea typeface="Helvetica" pitchFamily="34" charset="-122"/>
                <a:cs typeface="Helvetica" pitchFamily="34" charset="-120"/>
              </a:rPr>
              <a:t>This is an independently organized event operated under the leadership of student curators and faculty advisors at P. Obul Reddy Public School.</a:t>
            </a:r>
            <a:endParaRPr lang="en-US" sz="1300" dirty="0"/>
          </a:p>
        </p:txBody>
      </p:sp>
      <p:sp>
        <p:nvSpPr>
          <p:cNvPr id="7" name="Shape 5"/>
          <p:cNvSpPr/>
          <p:nvPr/>
        </p:nvSpPr>
        <p:spPr>
          <a:xfrm>
            <a:off x="731520" y="4526280"/>
            <a:ext cx="7680960" cy="0"/>
          </a:xfrm>
          <a:prstGeom prst="line">
            <a:avLst/>
          </a:prstGeom>
          <a:noFill/>
          <a:ln w="12700">
            <a:solidFill>
              <a:srgbClr val="E2E2E2"/>
            </a:solidFill>
            <a:prstDash val="solid"/>
          </a:ln>
        </p:spPr>
      </p:sp>
      <p:sp>
        <p:nvSpPr>
          <p:cNvPr id="8" name="Text 6"/>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9" name="Text 7"/>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03 / 20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04 — CORE METRICS</a:t>
            </a:r>
            <a:endParaRPr lang="en-US" sz="1000" dirty="0"/>
          </a:p>
        </p:txBody>
      </p:sp>
      <p:sp>
        <p:nvSpPr>
          <p:cNvPr id="4" name="Shape 2"/>
          <p:cNvSpPr/>
          <p:nvPr/>
        </p:nvSpPr>
        <p:spPr>
          <a:xfrm>
            <a:off x="731520" y="1463040"/>
            <a:ext cx="2377440" cy="2560320"/>
          </a:xfrm>
          <a:prstGeom prst="rect">
            <a:avLst/>
          </a:prstGeom>
          <a:solidFill>
            <a:srgbClr val="F8F8FA"/>
          </a:solidFill>
          <a:ln w="12700">
            <a:solidFill>
              <a:srgbClr val="E2E2E2"/>
            </a:solidFill>
            <a:prstDash val="solid"/>
          </a:ln>
        </p:spPr>
      </p:sp>
      <p:sp>
        <p:nvSpPr>
          <p:cNvPr id="5" name="Text 3"/>
          <p:cNvSpPr/>
          <p:nvPr/>
        </p:nvSpPr>
        <p:spPr>
          <a:xfrm>
            <a:off x="914400" y="1737360"/>
            <a:ext cx="2011680" cy="274320"/>
          </a:xfrm>
          <a:prstGeom prst="rect">
            <a:avLst/>
          </a:prstGeom>
          <a:noFill/>
          <a:ln/>
        </p:spPr>
        <p:txBody>
          <a:bodyPr wrap="square" rtlCol="0" anchor="ctr"/>
          <a:lstStyle/>
          <a:p>
            <a:pPr indent="0" marL="0">
              <a:buNone/>
            </a:pPr>
            <a:r>
              <a:rPr lang="en-US" sz="1000" b="1" dirty="0">
                <a:solidFill>
                  <a:srgbClr val="EB0028"/>
                </a:solidFill>
                <a:latin typeface="Helvetica" pitchFamily="34" charset="0"/>
                <a:ea typeface="Helvetica" pitchFamily="34" charset="-122"/>
                <a:cs typeface="Helvetica" pitchFamily="34" charset="-120"/>
              </a:rPr>
              <a:t>DATE</a:t>
            </a:r>
            <a:endParaRPr lang="en-US" sz="1000" dirty="0"/>
          </a:p>
        </p:txBody>
      </p:sp>
      <p:sp>
        <p:nvSpPr>
          <p:cNvPr id="6" name="Text 4"/>
          <p:cNvSpPr/>
          <p:nvPr/>
        </p:nvSpPr>
        <p:spPr>
          <a:xfrm>
            <a:off x="914400" y="2103120"/>
            <a:ext cx="2011680" cy="731520"/>
          </a:xfrm>
          <a:prstGeom prst="rect">
            <a:avLst/>
          </a:prstGeom>
          <a:noFill/>
          <a:ln/>
        </p:spPr>
        <p:txBody>
          <a:bodyPr wrap="square" rtlCol="0" anchor="ctr"/>
          <a:lstStyle/>
          <a:p>
            <a:pPr indent="0" marL="0">
              <a:buNone/>
            </a:pPr>
            <a:r>
              <a:rPr lang="en-US" sz="2200" b="1" dirty="0">
                <a:solidFill>
                  <a:srgbClr val="000000"/>
                </a:solidFill>
                <a:latin typeface="Helvetica" pitchFamily="34" charset="0"/>
                <a:ea typeface="Helvetica" pitchFamily="34" charset="-122"/>
                <a:cs typeface="Helvetica" pitchFamily="34" charset="-120"/>
              </a:rPr>
              <a:t>21 NOV</a:t>
            </a:r>
            <a:endParaRPr lang="en-US" sz="2200" dirty="0"/>
          </a:p>
        </p:txBody>
      </p:sp>
      <p:sp>
        <p:nvSpPr>
          <p:cNvPr id="7" name="Text 5"/>
          <p:cNvSpPr/>
          <p:nvPr/>
        </p:nvSpPr>
        <p:spPr>
          <a:xfrm>
            <a:off x="914400" y="2926080"/>
            <a:ext cx="2011680" cy="731520"/>
          </a:xfrm>
          <a:prstGeom prst="rect">
            <a:avLst/>
          </a:prstGeom>
          <a:noFill/>
          <a:ln/>
        </p:spPr>
        <p:txBody>
          <a:bodyPr wrap="square" rtlCol="0" anchor="ctr"/>
          <a:lstStyle/>
          <a:p>
            <a:pPr indent="0" marL="0">
              <a:buNone/>
            </a:pPr>
            <a:r>
              <a:rPr lang="en-US" sz="1100" dirty="0">
                <a:solidFill>
                  <a:srgbClr val="555555"/>
                </a:solidFill>
                <a:latin typeface="Helvetica" pitchFamily="34" charset="0"/>
                <a:ea typeface="Helvetica" pitchFamily="34" charset="-122"/>
                <a:cs typeface="Helvetica" pitchFamily="34" charset="-120"/>
              </a:rPr>
              <a:t>2026 Edition</a:t>
            </a:r>
            <a:endParaRPr lang="en-US" sz="1100" dirty="0"/>
          </a:p>
        </p:txBody>
      </p:sp>
      <p:sp>
        <p:nvSpPr>
          <p:cNvPr id="8" name="Shape 6"/>
          <p:cNvSpPr/>
          <p:nvPr/>
        </p:nvSpPr>
        <p:spPr>
          <a:xfrm>
            <a:off x="3383280" y="1463040"/>
            <a:ext cx="2377440" cy="2560320"/>
          </a:xfrm>
          <a:prstGeom prst="rect">
            <a:avLst/>
          </a:prstGeom>
          <a:solidFill>
            <a:srgbClr val="F8F8FA"/>
          </a:solidFill>
          <a:ln w="12700">
            <a:solidFill>
              <a:srgbClr val="E2E2E2"/>
            </a:solidFill>
            <a:prstDash val="solid"/>
          </a:ln>
        </p:spPr>
      </p:sp>
      <p:sp>
        <p:nvSpPr>
          <p:cNvPr id="9" name="Text 7"/>
          <p:cNvSpPr/>
          <p:nvPr/>
        </p:nvSpPr>
        <p:spPr>
          <a:xfrm>
            <a:off x="3566160" y="1737360"/>
            <a:ext cx="2011680" cy="274320"/>
          </a:xfrm>
          <a:prstGeom prst="rect">
            <a:avLst/>
          </a:prstGeom>
          <a:noFill/>
          <a:ln/>
        </p:spPr>
        <p:txBody>
          <a:bodyPr wrap="square" rtlCol="0" anchor="ctr"/>
          <a:lstStyle/>
          <a:p>
            <a:pPr indent="0" marL="0">
              <a:buNone/>
            </a:pPr>
            <a:r>
              <a:rPr lang="en-US" sz="1000" b="1" dirty="0">
                <a:solidFill>
                  <a:srgbClr val="EB0028"/>
                </a:solidFill>
                <a:latin typeface="Helvetica" pitchFamily="34" charset="0"/>
                <a:ea typeface="Helvetica" pitchFamily="34" charset="-122"/>
                <a:cs typeface="Helvetica" pitchFamily="34" charset="-120"/>
              </a:rPr>
              <a:t>LOCATION</a:t>
            </a:r>
            <a:endParaRPr lang="en-US" sz="1000" dirty="0"/>
          </a:p>
        </p:txBody>
      </p:sp>
      <p:sp>
        <p:nvSpPr>
          <p:cNvPr id="10" name="Text 8"/>
          <p:cNvSpPr/>
          <p:nvPr/>
        </p:nvSpPr>
        <p:spPr>
          <a:xfrm>
            <a:off x="3566160" y="2103120"/>
            <a:ext cx="2011680" cy="731520"/>
          </a:xfrm>
          <a:prstGeom prst="rect">
            <a:avLst/>
          </a:prstGeom>
          <a:noFill/>
          <a:ln/>
        </p:spPr>
        <p:txBody>
          <a:bodyPr wrap="square" rtlCol="0" anchor="ctr"/>
          <a:lstStyle/>
          <a:p>
            <a:pPr indent="0" marL="0">
              <a:buNone/>
            </a:pPr>
            <a:r>
              <a:rPr lang="en-US" sz="2200" b="1" dirty="0">
                <a:solidFill>
                  <a:srgbClr val="000000"/>
                </a:solidFill>
                <a:latin typeface="Helvetica" pitchFamily="34" charset="0"/>
                <a:ea typeface="Helvetica" pitchFamily="34" charset="-122"/>
                <a:cs typeface="Helvetica" pitchFamily="34" charset="-120"/>
              </a:rPr>
              <a:t>HYDERABAD</a:t>
            </a:r>
            <a:endParaRPr lang="en-US" sz="2200" dirty="0"/>
          </a:p>
        </p:txBody>
      </p:sp>
      <p:sp>
        <p:nvSpPr>
          <p:cNvPr id="11" name="Text 9"/>
          <p:cNvSpPr/>
          <p:nvPr/>
        </p:nvSpPr>
        <p:spPr>
          <a:xfrm>
            <a:off x="3566160" y="2926080"/>
            <a:ext cx="2011680" cy="731520"/>
          </a:xfrm>
          <a:prstGeom prst="rect">
            <a:avLst/>
          </a:prstGeom>
          <a:noFill/>
          <a:ln/>
        </p:spPr>
        <p:txBody>
          <a:bodyPr wrap="square" rtlCol="0" anchor="ctr"/>
          <a:lstStyle/>
          <a:p>
            <a:pPr indent="0" marL="0">
              <a:buNone/>
            </a:pPr>
            <a:r>
              <a:rPr lang="en-US" sz="1100" dirty="0">
                <a:solidFill>
                  <a:srgbClr val="555555"/>
                </a:solidFill>
                <a:latin typeface="Helvetica" pitchFamily="34" charset="0"/>
                <a:ea typeface="Helvetica" pitchFamily="34" charset="-122"/>
                <a:cs typeface="Helvetica" pitchFamily="34" charset="-120"/>
              </a:rPr>
              <a:t>P. Obul Reddy Public School, Jubilee Hills</a:t>
            </a:r>
            <a:endParaRPr lang="en-US" sz="1100" dirty="0"/>
          </a:p>
        </p:txBody>
      </p:sp>
      <p:sp>
        <p:nvSpPr>
          <p:cNvPr id="12" name="Shape 10"/>
          <p:cNvSpPr/>
          <p:nvPr/>
        </p:nvSpPr>
        <p:spPr>
          <a:xfrm>
            <a:off x="6035040" y="1463040"/>
            <a:ext cx="2377440" cy="2560320"/>
          </a:xfrm>
          <a:prstGeom prst="rect">
            <a:avLst/>
          </a:prstGeom>
          <a:solidFill>
            <a:srgbClr val="F8F8FA"/>
          </a:solidFill>
          <a:ln w="12700">
            <a:solidFill>
              <a:srgbClr val="E2E2E2"/>
            </a:solidFill>
            <a:prstDash val="solid"/>
          </a:ln>
        </p:spPr>
      </p:sp>
      <p:sp>
        <p:nvSpPr>
          <p:cNvPr id="13" name="Text 11"/>
          <p:cNvSpPr/>
          <p:nvPr/>
        </p:nvSpPr>
        <p:spPr>
          <a:xfrm>
            <a:off x="6217920" y="1737360"/>
            <a:ext cx="2011680" cy="274320"/>
          </a:xfrm>
          <a:prstGeom prst="rect">
            <a:avLst/>
          </a:prstGeom>
          <a:noFill/>
          <a:ln/>
        </p:spPr>
        <p:txBody>
          <a:bodyPr wrap="square" rtlCol="0" anchor="ctr"/>
          <a:lstStyle/>
          <a:p>
            <a:pPr indent="0" marL="0">
              <a:buNone/>
            </a:pPr>
            <a:r>
              <a:rPr lang="en-US" sz="1000" b="1" dirty="0">
                <a:solidFill>
                  <a:srgbClr val="EB0028"/>
                </a:solidFill>
                <a:latin typeface="Helvetica" pitchFamily="34" charset="0"/>
                <a:ea typeface="Helvetica" pitchFamily="34" charset="-122"/>
                <a:cs typeface="Helvetica" pitchFamily="34" charset="-120"/>
              </a:rPr>
              <a:t>FORMAT</a:t>
            </a:r>
            <a:endParaRPr lang="en-US" sz="1000" dirty="0"/>
          </a:p>
        </p:txBody>
      </p:sp>
      <p:sp>
        <p:nvSpPr>
          <p:cNvPr id="14" name="Text 12"/>
          <p:cNvSpPr/>
          <p:nvPr/>
        </p:nvSpPr>
        <p:spPr>
          <a:xfrm>
            <a:off x="6217920" y="2103120"/>
            <a:ext cx="2011680" cy="731520"/>
          </a:xfrm>
          <a:prstGeom prst="rect">
            <a:avLst/>
          </a:prstGeom>
          <a:noFill/>
          <a:ln/>
        </p:spPr>
        <p:txBody>
          <a:bodyPr wrap="square" rtlCol="0" anchor="ctr"/>
          <a:lstStyle/>
          <a:p>
            <a:pPr indent="0" marL="0">
              <a:buNone/>
            </a:pPr>
            <a:r>
              <a:rPr lang="en-US" sz="2200" b="1" dirty="0">
                <a:solidFill>
                  <a:srgbClr val="000000"/>
                </a:solidFill>
                <a:latin typeface="Helvetica" pitchFamily="34" charset="0"/>
                <a:ea typeface="Helvetica" pitchFamily="34" charset="-122"/>
                <a:cs typeface="Helvetica" pitchFamily="34" charset="-120"/>
              </a:rPr>
              <a:t>TEDx YOUTH</a:t>
            </a:r>
            <a:endParaRPr lang="en-US" sz="2200" dirty="0"/>
          </a:p>
        </p:txBody>
      </p:sp>
      <p:sp>
        <p:nvSpPr>
          <p:cNvPr id="15" name="Text 13"/>
          <p:cNvSpPr/>
          <p:nvPr/>
        </p:nvSpPr>
        <p:spPr>
          <a:xfrm>
            <a:off x="6217920" y="2926080"/>
            <a:ext cx="2011680" cy="731520"/>
          </a:xfrm>
          <a:prstGeom prst="rect">
            <a:avLst/>
          </a:prstGeom>
          <a:noFill/>
          <a:ln/>
        </p:spPr>
        <p:txBody>
          <a:bodyPr wrap="square" rtlCol="0" anchor="ctr"/>
          <a:lstStyle/>
          <a:p>
            <a:pPr indent="0" marL="0">
              <a:buNone/>
            </a:pPr>
            <a:r>
              <a:rPr lang="en-US" sz="1100" dirty="0">
                <a:solidFill>
                  <a:srgbClr val="555555"/>
                </a:solidFill>
                <a:latin typeface="Helvetica" pitchFamily="34" charset="0"/>
                <a:ea typeface="Helvetica" pitchFamily="34" charset="-122"/>
                <a:cs typeface="Helvetica" pitchFamily="34" charset="-120"/>
              </a:rPr>
              <a:t>Curated Talks &amp; Live Delegate Interactions</a:t>
            </a:r>
            <a:endParaRPr lang="en-US" sz="1100" dirty="0"/>
          </a:p>
        </p:txBody>
      </p:sp>
      <p:sp>
        <p:nvSpPr>
          <p:cNvPr id="16" name="Shape 14"/>
          <p:cNvSpPr/>
          <p:nvPr/>
        </p:nvSpPr>
        <p:spPr>
          <a:xfrm>
            <a:off x="731520" y="4526280"/>
            <a:ext cx="7680960" cy="0"/>
          </a:xfrm>
          <a:prstGeom prst="line">
            <a:avLst/>
          </a:prstGeom>
          <a:noFill/>
          <a:ln w="12700">
            <a:solidFill>
              <a:srgbClr val="E2E2E2"/>
            </a:solidFill>
            <a:prstDash val="solid"/>
          </a:ln>
        </p:spPr>
      </p:sp>
      <p:sp>
        <p:nvSpPr>
          <p:cNvPr id="17" name="Text 15"/>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8" name="Text 16"/>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04 / 20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FFFFFF"/>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AAAAAA"/>
                </a:solidFill>
                <a:latin typeface="Helvetica" pitchFamily="34" charset="0"/>
                <a:ea typeface="Helvetica" pitchFamily="34" charset="-122"/>
                <a:cs typeface="Helvetica" pitchFamily="34" charset="-120"/>
              </a:rPr>
              <a:t>05 — CONCEPT FOCUS</a:t>
            </a:r>
            <a:endParaRPr lang="en-US" sz="1000" dirty="0"/>
          </a:p>
        </p:txBody>
      </p:sp>
      <p:sp>
        <p:nvSpPr>
          <p:cNvPr id="4" name="Shape 2"/>
          <p:cNvSpPr/>
          <p:nvPr/>
        </p:nvSpPr>
        <p:spPr>
          <a:xfrm>
            <a:off x="731520" y="1463040"/>
            <a:ext cx="457200" cy="54864"/>
          </a:xfrm>
          <a:prstGeom prst="rect">
            <a:avLst/>
          </a:prstGeom>
          <a:solidFill>
            <a:srgbClr val="EB0028"/>
          </a:solidFill>
          <a:ln/>
        </p:spPr>
      </p:sp>
      <p:sp>
        <p:nvSpPr>
          <p:cNvPr id="5" name="Text 3"/>
          <p:cNvSpPr/>
          <p:nvPr/>
        </p:nvSpPr>
        <p:spPr>
          <a:xfrm>
            <a:off x="731520" y="1737360"/>
            <a:ext cx="7680960" cy="274320"/>
          </a:xfrm>
          <a:prstGeom prst="rect">
            <a:avLst/>
          </a:prstGeom>
          <a:noFill/>
          <a:ln/>
        </p:spPr>
        <p:txBody>
          <a:bodyPr wrap="square" rtlCol="0" anchor="ctr"/>
          <a:lstStyle/>
          <a:p>
            <a:pPr indent="0" marL="0">
              <a:buNone/>
            </a:pPr>
            <a:r>
              <a:rPr lang="en-US" sz="1100" b="1" dirty="0">
                <a:solidFill>
                  <a:srgbClr val="EB0028"/>
                </a:solidFill>
                <a:latin typeface="Helvetica" pitchFamily="34" charset="0"/>
                <a:ea typeface="Helvetica" pitchFamily="34" charset="-122"/>
                <a:cs typeface="Helvetica" pitchFamily="34" charset="-120"/>
              </a:rPr>
              <a:t>OFFICIAL THEME 2026</a:t>
            </a:r>
            <a:endParaRPr lang="en-US" sz="1100" dirty="0"/>
          </a:p>
        </p:txBody>
      </p:sp>
      <p:sp>
        <p:nvSpPr>
          <p:cNvPr id="6" name="Text 4"/>
          <p:cNvSpPr/>
          <p:nvPr/>
        </p:nvSpPr>
        <p:spPr>
          <a:xfrm>
            <a:off x="731520" y="2103120"/>
            <a:ext cx="7680960" cy="2011680"/>
          </a:xfrm>
          <a:prstGeom prst="rect">
            <a:avLst/>
          </a:prstGeom>
          <a:noFill/>
          <a:ln/>
        </p:spPr>
        <p:txBody>
          <a:bodyPr wrap="square" rtlCol="0" anchor="ctr"/>
          <a:lstStyle/>
          <a:p>
            <a:pPr indent="0" marL="0">
              <a:lnSpc>
                <a:spcPts val="4800"/>
              </a:lnSpc>
              <a:buNone/>
            </a:pPr>
            <a:r>
              <a:rPr lang="en-US" sz="4600" b="1" dirty="0">
                <a:solidFill>
                  <a:srgbClr val="FFFFFF"/>
                </a:solidFill>
                <a:latin typeface="Helvetica" pitchFamily="34" charset="0"/>
                <a:ea typeface="Helvetica" pitchFamily="34" charset="-122"/>
                <a:cs typeface="Helvetica" pitchFamily="34" charset="-120"/>
              </a:rPr>
              <a:t>“THE WEIGHT OF
</a:t>
            </a:r>
            <a:pPr indent="0" marL="0">
              <a:lnSpc>
                <a:spcPts val="4800"/>
              </a:lnSpc>
              <a:buNone/>
            </a:pPr>
            <a:r>
              <a:rPr lang="en-US" sz="4600" b="1" dirty="0">
                <a:solidFill>
                  <a:srgbClr val="EB0028"/>
                </a:solidFill>
                <a:latin typeface="Helvetica" pitchFamily="34" charset="0"/>
                <a:ea typeface="Helvetica" pitchFamily="34" charset="-122"/>
                <a:cs typeface="Helvetica" pitchFamily="34" charset="-120"/>
              </a:rPr>
              <a:t>EXPECTATIONS”</a:t>
            </a:r>
            <a:endParaRPr lang="en-US" sz="4600" dirty="0"/>
          </a:p>
        </p:txBody>
      </p:sp>
      <p:sp>
        <p:nvSpPr>
          <p:cNvPr id="7" name="Shape 5"/>
          <p:cNvSpPr/>
          <p:nvPr/>
        </p:nvSpPr>
        <p:spPr>
          <a:xfrm>
            <a:off x="731520" y="4526280"/>
            <a:ext cx="7680960" cy="0"/>
          </a:xfrm>
          <a:prstGeom prst="line">
            <a:avLst/>
          </a:prstGeom>
          <a:noFill/>
          <a:ln w="12700">
            <a:solidFill>
              <a:srgbClr val="333333"/>
            </a:solidFill>
            <a:prstDash val="solid"/>
          </a:ln>
        </p:spPr>
      </p:sp>
      <p:sp>
        <p:nvSpPr>
          <p:cNvPr id="8" name="Text 6"/>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FFFFFF"/>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888888"/>
                </a:solidFill>
                <a:latin typeface="Helvetica" pitchFamily="34" charset="0"/>
                <a:ea typeface="Helvetica" pitchFamily="34" charset="-122"/>
                <a:cs typeface="Helvetica" pitchFamily="34" charset="-120"/>
              </a:rPr>
              <a:t> • 21 November 2026</a:t>
            </a:r>
            <a:endParaRPr lang="en-US" sz="1100" dirty="0"/>
          </a:p>
        </p:txBody>
      </p:sp>
      <p:sp>
        <p:nvSpPr>
          <p:cNvPr id="9" name="Text 7"/>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888888"/>
                </a:solidFill>
                <a:latin typeface="Helvetica" pitchFamily="34" charset="0"/>
                <a:ea typeface="Helvetica" pitchFamily="34" charset="-122"/>
                <a:cs typeface="Helvetica" pitchFamily="34" charset="-120"/>
              </a:rPr>
              <a:t>05 / 20</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06 — CONTEXTUAL DEPTH</a:t>
            </a:r>
            <a:endParaRPr lang="en-US" sz="1000" dirty="0"/>
          </a:p>
        </p:txBody>
      </p:sp>
      <p:sp>
        <p:nvSpPr>
          <p:cNvPr id="4" name="Text 2"/>
          <p:cNvSpPr/>
          <p:nvPr/>
        </p:nvSpPr>
        <p:spPr>
          <a:xfrm>
            <a:off x="731520" y="1280160"/>
            <a:ext cx="3657600" cy="1463040"/>
          </a:xfrm>
          <a:prstGeom prst="rect">
            <a:avLst/>
          </a:prstGeom>
          <a:noFill/>
          <a:ln/>
        </p:spPr>
        <p:txBody>
          <a:bodyPr wrap="square" rtlCol="0" anchor="ctr"/>
          <a:lstStyle/>
          <a:p>
            <a:pPr indent="0" marL="0">
              <a:buNone/>
            </a:pPr>
            <a:r>
              <a:rPr lang="en-US" sz="2400" b="1" dirty="0">
                <a:solidFill>
                  <a:srgbClr val="000000"/>
                </a:solidFill>
                <a:latin typeface="Helvetica" pitchFamily="34" charset="0"/>
                <a:ea typeface="Helvetica" pitchFamily="34" charset="-122"/>
                <a:cs typeface="Helvetica" pitchFamily="34" charset="-120"/>
              </a:rPr>
              <a:t>Examining the invisible pressures that frame modern development.</a:t>
            </a:r>
            <a:endParaRPr lang="en-US" sz="2400" dirty="0"/>
          </a:p>
        </p:txBody>
      </p:sp>
      <p:sp>
        <p:nvSpPr>
          <p:cNvPr id="5" name="Text 3"/>
          <p:cNvSpPr/>
          <p:nvPr/>
        </p:nvSpPr>
        <p:spPr>
          <a:xfrm>
            <a:off x="731520" y="2926080"/>
            <a:ext cx="3657600" cy="1280160"/>
          </a:xfrm>
          <a:prstGeom prst="rect">
            <a:avLst/>
          </a:prstGeom>
          <a:noFill/>
          <a:ln/>
        </p:spPr>
        <p:txBody>
          <a:bodyPr wrap="square" rtlCol="0" anchor="ctr"/>
          <a:lstStyle/>
          <a:p>
            <a:pPr indent="0" marL="0">
              <a:buNone/>
            </a:pPr>
            <a:r>
              <a:rPr lang="en-US" sz="1300" dirty="0">
                <a:solidFill>
                  <a:srgbClr val="555555"/>
                </a:solidFill>
                <a:latin typeface="Helvetica" pitchFamily="34" charset="0"/>
                <a:ea typeface="Helvetica" pitchFamily="34" charset="-122"/>
                <a:cs typeface="Helvetica" pitchFamily="34" charset="-120"/>
              </a:rPr>
              <a:t>Every generation inherits structures built long before their birth. This year, we dissect the burden placed on youth across core dimensions of daily life.</a:t>
            </a:r>
            <a:endParaRPr lang="en-US" sz="1300" dirty="0"/>
          </a:p>
        </p:txBody>
      </p:sp>
      <p:sp>
        <p:nvSpPr>
          <p:cNvPr id="6" name="Text 4"/>
          <p:cNvSpPr/>
          <p:nvPr/>
        </p:nvSpPr>
        <p:spPr>
          <a:xfrm>
            <a:off x="4846320" y="1280160"/>
            <a:ext cx="3566160" cy="45720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01  Family</a:t>
            </a:r>
            <a:endParaRPr lang="en-US" sz="1600" dirty="0"/>
          </a:p>
        </p:txBody>
      </p:sp>
      <p:sp>
        <p:nvSpPr>
          <p:cNvPr id="7" name="Shape 5"/>
          <p:cNvSpPr/>
          <p:nvPr/>
        </p:nvSpPr>
        <p:spPr>
          <a:xfrm>
            <a:off x="4846320" y="1783080"/>
            <a:ext cx="3566160" cy="0"/>
          </a:xfrm>
          <a:prstGeom prst="line">
            <a:avLst/>
          </a:prstGeom>
          <a:noFill/>
          <a:ln w="12700">
            <a:solidFill>
              <a:srgbClr val="E2E2E2"/>
            </a:solidFill>
            <a:prstDash val="solid"/>
          </a:ln>
        </p:spPr>
      </p:sp>
      <p:sp>
        <p:nvSpPr>
          <p:cNvPr id="8" name="Text 6"/>
          <p:cNvSpPr/>
          <p:nvPr/>
        </p:nvSpPr>
        <p:spPr>
          <a:xfrm>
            <a:off x="4846320" y="1874520"/>
            <a:ext cx="3566160" cy="45720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02  School</a:t>
            </a:r>
            <a:endParaRPr lang="en-US" sz="1600" dirty="0"/>
          </a:p>
        </p:txBody>
      </p:sp>
      <p:sp>
        <p:nvSpPr>
          <p:cNvPr id="9" name="Shape 7"/>
          <p:cNvSpPr/>
          <p:nvPr/>
        </p:nvSpPr>
        <p:spPr>
          <a:xfrm>
            <a:off x="4846320" y="2377440"/>
            <a:ext cx="3566160" cy="0"/>
          </a:xfrm>
          <a:prstGeom prst="line">
            <a:avLst/>
          </a:prstGeom>
          <a:noFill/>
          <a:ln w="12700">
            <a:solidFill>
              <a:srgbClr val="E2E2E2"/>
            </a:solidFill>
            <a:prstDash val="solid"/>
          </a:ln>
        </p:spPr>
      </p:sp>
      <p:sp>
        <p:nvSpPr>
          <p:cNvPr id="10" name="Text 8"/>
          <p:cNvSpPr/>
          <p:nvPr/>
        </p:nvSpPr>
        <p:spPr>
          <a:xfrm>
            <a:off x="4846320" y="2468880"/>
            <a:ext cx="3566160" cy="45720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03  Society</a:t>
            </a:r>
            <a:endParaRPr lang="en-US" sz="1600" dirty="0"/>
          </a:p>
        </p:txBody>
      </p:sp>
      <p:sp>
        <p:nvSpPr>
          <p:cNvPr id="11" name="Shape 9"/>
          <p:cNvSpPr/>
          <p:nvPr/>
        </p:nvSpPr>
        <p:spPr>
          <a:xfrm>
            <a:off x="4846320" y="2971800"/>
            <a:ext cx="3566160" cy="0"/>
          </a:xfrm>
          <a:prstGeom prst="line">
            <a:avLst/>
          </a:prstGeom>
          <a:noFill/>
          <a:ln w="12700">
            <a:solidFill>
              <a:srgbClr val="E2E2E2"/>
            </a:solidFill>
            <a:prstDash val="solid"/>
          </a:ln>
        </p:spPr>
      </p:sp>
      <p:sp>
        <p:nvSpPr>
          <p:cNvPr id="12" name="Text 10"/>
          <p:cNvSpPr/>
          <p:nvPr/>
        </p:nvSpPr>
        <p:spPr>
          <a:xfrm>
            <a:off x="4846320" y="3063240"/>
            <a:ext cx="3566160" cy="45720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04  Culture</a:t>
            </a:r>
            <a:endParaRPr lang="en-US" sz="1600" dirty="0"/>
          </a:p>
        </p:txBody>
      </p:sp>
      <p:sp>
        <p:nvSpPr>
          <p:cNvPr id="13" name="Shape 11"/>
          <p:cNvSpPr/>
          <p:nvPr/>
        </p:nvSpPr>
        <p:spPr>
          <a:xfrm>
            <a:off x="4846320" y="3566160"/>
            <a:ext cx="3566160" cy="0"/>
          </a:xfrm>
          <a:prstGeom prst="line">
            <a:avLst/>
          </a:prstGeom>
          <a:noFill/>
          <a:ln w="12700">
            <a:solidFill>
              <a:srgbClr val="E2E2E2"/>
            </a:solidFill>
            <a:prstDash val="solid"/>
          </a:ln>
        </p:spPr>
      </p:sp>
      <p:sp>
        <p:nvSpPr>
          <p:cNvPr id="14" name="Text 12"/>
          <p:cNvSpPr/>
          <p:nvPr/>
        </p:nvSpPr>
        <p:spPr>
          <a:xfrm>
            <a:off x="4846320" y="3657600"/>
            <a:ext cx="3566160" cy="45720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05  Ourselves</a:t>
            </a:r>
            <a:endParaRPr lang="en-US" sz="1600" dirty="0"/>
          </a:p>
        </p:txBody>
      </p:sp>
      <p:sp>
        <p:nvSpPr>
          <p:cNvPr id="15" name="Shape 13"/>
          <p:cNvSpPr/>
          <p:nvPr/>
        </p:nvSpPr>
        <p:spPr>
          <a:xfrm>
            <a:off x="4846320" y="4160520"/>
            <a:ext cx="3566160" cy="0"/>
          </a:xfrm>
          <a:prstGeom prst="line">
            <a:avLst/>
          </a:prstGeom>
          <a:noFill/>
          <a:ln w="12700">
            <a:solidFill>
              <a:srgbClr val="E2E2E2"/>
            </a:solidFill>
            <a:prstDash val="solid"/>
          </a:ln>
        </p:spPr>
      </p:sp>
      <p:sp>
        <p:nvSpPr>
          <p:cNvPr id="16" name="Shape 14"/>
          <p:cNvSpPr/>
          <p:nvPr/>
        </p:nvSpPr>
        <p:spPr>
          <a:xfrm>
            <a:off x="731520" y="4526280"/>
            <a:ext cx="7680960" cy="0"/>
          </a:xfrm>
          <a:prstGeom prst="line">
            <a:avLst/>
          </a:prstGeom>
          <a:noFill/>
          <a:ln w="12700">
            <a:solidFill>
              <a:srgbClr val="E2E2E2"/>
            </a:solidFill>
            <a:prstDash val="solid"/>
          </a:ln>
        </p:spPr>
      </p:sp>
      <p:sp>
        <p:nvSpPr>
          <p:cNvPr id="17" name="Text 15"/>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8" name="Text 16"/>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06 / 20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07 — PROGRAM FLOW</a:t>
            </a:r>
            <a:endParaRPr lang="en-US" sz="1000" dirty="0"/>
          </a:p>
        </p:txBody>
      </p:sp>
      <p:sp>
        <p:nvSpPr>
          <p:cNvPr id="4" name="Text 2"/>
          <p:cNvSpPr/>
          <p:nvPr/>
        </p:nvSpPr>
        <p:spPr>
          <a:xfrm>
            <a:off x="731520" y="1005840"/>
            <a:ext cx="7680960" cy="548640"/>
          </a:xfrm>
          <a:prstGeom prst="rect">
            <a:avLst/>
          </a:prstGeom>
          <a:noFill/>
          <a:ln/>
        </p:spPr>
        <p:txBody>
          <a:bodyPr wrap="square" rtlCol="0" anchor="ctr"/>
          <a:lstStyle/>
          <a:p>
            <a:pPr indent="0" marL="0">
              <a:buNone/>
            </a:pPr>
            <a:r>
              <a:rPr lang="en-US" sz="2000" b="1" dirty="0">
                <a:solidFill>
                  <a:srgbClr val="000000"/>
                </a:solidFill>
                <a:latin typeface="Helvetica" pitchFamily="34" charset="0"/>
                <a:ea typeface="Helvetica" pitchFamily="34" charset="-122"/>
                <a:cs typeface="Helvetica" pitchFamily="34" charset="-120"/>
              </a:rPr>
              <a:t>A carefully architected day of intellectual immersion.</a:t>
            </a:r>
            <a:endParaRPr lang="en-US" sz="2000" dirty="0"/>
          </a:p>
        </p:txBody>
      </p:sp>
      <p:sp>
        <p:nvSpPr>
          <p:cNvPr id="5" name="Shape 3"/>
          <p:cNvSpPr/>
          <p:nvPr/>
        </p:nvSpPr>
        <p:spPr>
          <a:xfrm>
            <a:off x="731520" y="1737360"/>
            <a:ext cx="2377440" cy="1188720"/>
          </a:xfrm>
          <a:prstGeom prst="rect">
            <a:avLst/>
          </a:prstGeom>
          <a:solidFill>
            <a:srgbClr val="FAFAFA"/>
          </a:solidFill>
          <a:ln w="12700">
            <a:solidFill>
              <a:srgbClr val="E2E2E2"/>
            </a:solidFill>
            <a:prstDash val="solid"/>
          </a:ln>
        </p:spPr>
      </p:sp>
      <p:sp>
        <p:nvSpPr>
          <p:cNvPr id="6" name="Text 4"/>
          <p:cNvSpPr/>
          <p:nvPr/>
        </p:nvSpPr>
        <p:spPr>
          <a:xfrm>
            <a:off x="868680" y="1847088"/>
            <a:ext cx="2103120" cy="22860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PHASE I</a:t>
            </a:r>
            <a:endParaRPr lang="en-US" sz="900" dirty="0"/>
          </a:p>
        </p:txBody>
      </p:sp>
      <p:sp>
        <p:nvSpPr>
          <p:cNvPr id="7" name="Text 5"/>
          <p:cNvSpPr/>
          <p:nvPr/>
        </p:nvSpPr>
        <p:spPr>
          <a:xfrm>
            <a:off x="868680" y="2084832"/>
            <a:ext cx="2103120" cy="411480"/>
          </a:xfrm>
          <a:prstGeom prst="rect">
            <a:avLst/>
          </a:prstGeom>
          <a:noFill/>
          <a:ln/>
        </p:spPr>
        <p:txBody>
          <a:bodyPr wrap="square" rtlCol="0" anchor="ctr"/>
          <a:lstStyle/>
          <a:p>
            <a:pPr indent="0" marL="0">
              <a:buNone/>
            </a:pPr>
            <a:r>
              <a:rPr lang="en-US" sz="1300" b="1" dirty="0">
                <a:solidFill>
                  <a:srgbClr val="000000"/>
                </a:solidFill>
                <a:latin typeface="Helvetica" pitchFamily="34" charset="0"/>
                <a:ea typeface="Helvetica" pitchFamily="34" charset="-122"/>
                <a:cs typeface="Helvetica" pitchFamily="34" charset="-120"/>
              </a:rPr>
              <a:t>Registration &amp; Welcome</a:t>
            </a:r>
            <a:endParaRPr lang="en-US" sz="1300" dirty="0"/>
          </a:p>
        </p:txBody>
      </p:sp>
      <p:sp>
        <p:nvSpPr>
          <p:cNvPr id="8" name="Text 6"/>
          <p:cNvSpPr/>
          <p:nvPr/>
        </p:nvSpPr>
        <p:spPr>
          <a:xfrm>
            <a:off x="868680" y="2514600"/>
            <a:ext cx="2103120" cy="320040"/>
          </a:xfrm>
          <a:prstGeom prst="rect">
            <a:avLst/>
          </a:prstGeom>
          <a:noFill/>
          <a:ln/>
        </p:spPr>
        <p:txBody>
          <a:bodyPr wrap="square" rtlCol="0" anchor="ctr"/>
          <a:lstStyle/>
          <a:p>
            <a:pPr indent="0" marL="0">
              <a:buNone/>
            </a:pPr>
            <a:r>
              <a:rPr lang="en-US" sz="1000" dirty="0">
                <a:solidFill>
                  <a:srgbClr val="555555"/>
                </a:solidFill>
                <a:latin typeface="Helvetica" pitchFamily="34" charset="0"/>
                <a:ea typeface="Helvetica" pitchFamily="34" charset="-122"/>
                <a:cs typeface="Helvetica" pitchFamily="34" charset="-120"/>
              </a:rPr>
              <a:t>Networking and onboarding.</a:t>
            </a:r>
            <a:endParaRPr lang="en-US" sz="1000" dirty="0"/>
          </a:p>
        </p:txBody>
      </p:sp>
      <p:sp>
        <p:nvSpPr>
          <p:cNvPr id="9" name="Shape 7"/>
          <p:cNvSpPr/>
          <p:nvPr/>
        </p:nvSpPr>
        <p:spPr>
          <a:xfrm>
            <a:off x="3383280" y="1737360"/>
            <a:ext cx="2377440" cy="1188720"/>
          </a:xfrm>
          <a:prstGeom prst="rect">
            <a:avLst/>
          </a:prstGeom>
          <a:solidFill>
            <a:srgbClr val="FAFAFA"/>
          </a:solidFill>
          <a:ln w="12700">
            <a:solidFill>
              <a:srgbClr val="E2E2E2"/>
            </a:solidFill>
            <a:prstDash val="solid"/>
          </a:ln>
        </p:spPr>
      </p:sp>
      <p:sp>
        <p:nvSpPr>
          <p:cNvPr id="10" name="Text 8"/>
          <p:cNvSpPr/>
          <p:nvPr/>
        </p:nvSpPr>
        <p:spPr>
          <a:xfrm>
            <a:off x="3520440" y="1847088"/>
            <a:ext cx="2103120" cy="22860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PHASE II</a:t>
            </a:r>
            <a:endParaRPr lang="en-US" sz="900" dirty="0"/>
          </a:p>
        </p:txBody>
      </p:sp>
      <p:sp>
        <p:nvSpPr>
          <p:cNvPr id="11" name="Text 9"/>
          <p:cNvSpPr/>
          <p:nvPr/>
        </p:nvSpPr>
        <p:spPr>
          <a:xfrm>
            <a:off x="3520440" y="2084832"/>
            <a:ext cx="2103120" cy="411480"/>
          </a:xfrm>
          <a:prstGeom prst="rect">
            <a:avLst/>
          </a:prstGeom>
          <a:noFill/>
          <a:ln/>
        </p:spPr>
        <p:txBody>
          <a:bodyPr wrap="square" rtlCol="0" anchor="ctr"/>
          <a:lstStyle/>
          <a:p>
            <a:pPr indent="0" marL="0">
              <a:buNone/>
            </a:pPr>
            <a:r>
              <a:rPr lang="en-US" sz="1300" b="1" dirty="0">
                <a:solidFill>
                  <a:srgbClr val="000000"/>
                </a:solidFill>
                <a:latin typeface="Helvetica" pitchFamily="34" charset="0"/>
                <a:ea typeface="Helvetica" pitchFamily="34" charset="-122"/>
                <a:cs typeface="Helvetica" pitchFamily="34" charset="-120"/>
              </a:rPr>
              <a:t>Opening Session</a:t>
            </a:r>
            <a:endParaRPr lang="en-US" sz="1300" dirty="0"/>
          </a:p>
        </p:txBody>
      </p:sp>
      <p:sp>
        <p:nvSpPr>
          <p:cNvPr id="12" name="Text 10"/>
          <p:cNvSpPr/>
          <p:nvPr/>
        </p:nvSpPr>
        <p:spPr>
          <a:xfrm>
            <a:off x="3520440" y="2514600"/>
            <a:ext cx="2103120" cy="320040"/>
          </a:xfrm>
          <a:prstGeom prst="rect">
            <a:avLst/>
          </a:prstGeom>
          <a:noFill/>
          <a:ln/>
        </p:spPr>
        <p:txBody>
          <a:bodyPr wrap="square" rtlCol="0" anchor="ctr"/>
          <a:lstStyle/>
          <a:p>
            <a:pPr indent="0" marL="0">
              <a:buNone/>
            </a:pPr>
            <a:r>
              <a:rPr lang="en-US" sz="1000" dirty="0">
                <a:solidFill>
                  <a:srgbClr val="555555"/>
                </a:solidFill>
                <a:latin typeface="Helvetica" pitchFamily="34" charset="0"/>
                <a:ea typeface="Helvetica" pitchFamily="34" charset="-122"/>
                <a:cs typeface="Helvetica" pitchFamily="34" charset="-120"/>
              </a:rPr>
              <a:t>Curator address &amp; key talks.</a:t>
            </a:r>
            <a:endParaRPr lang="en-US" sz="1000" dirty="0"/>
          </a:p>
        </p:txBody>
      </p:sp>
      <p:sp>
        <p:nvSpPr>
          <p:cNvPr id="13" name="Shape 11"/>
          <p:cNvSpPr/>
          <p:nvPr/>
        </p:nvSpPr>
        <p:spPr>
          <a:xfrm>
            <a:off x="6035040" y="1737360"/>
            <a:ext cx="2377440" cy="1188720"/>
          </a:xfrm>
          <a:prstGeom prst="rect">
            <a:avLst/>
          </a:prstGeom>
          <a:solidFill>
            <a:srgbClr val="FAFAFA"/>
          </a:solidFill>
          <a:ln w="12700">
            <a:solidFill>
              <a:srgbClr val="E2E2E2"/>
            </a:solidFill>
            <a:prstDash val="solid"/>
          </a:ln>
        </p:spPr>
      </p:sp>
      <p:sp>
        <p:nvSpPr>
          <p:cNvPr id="14" name="Text 12"/>
          <p:cNvSpPr/>
          <p:nvPr/>
        </p:nvSpPr>
        <p:spPr>
          <a:xfrm>
            <a:off x="6172200" y="1847088"/>
            <a:ext cx="2103120" cy="22860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PHASE III</a:t>
            </a:r>
            <a:endParaRPr lang="en-US" sz="900" dirty="0"/>
          </a:p>
        </p:txBody>
      </p:sp>
      <p:sp>
        <p:nvSpPr>
          <p:cNvPr id="15" name="Text 13"/>
          <p:cNvSpPr/>
          <p:nvPr/>
        </p:nvSpPr>
        <p:spPr>
          <a:xfrm>
            <a:off x="6172200" y="2084832"/>
            <a:ext cx="2103120" cy="411480"/>
          </a:xfrm>
          <a:prstGeom prst="rect">
            <a:avLst/>
          </a:prstGeom>
          <a:noFill/>
          <a:ln/>
        </p:spPr>
        <p:txBody>
          <a:bodyPr wrap="square" rtlCol="0" anchor="ctr"/>
          <a:lstStyle/>
          <a:p>
            <a:pPr indent="0" marL="0">
              <a:buNone/>
            </a:pPr>
            <a:r>
              <a:rPr lang="en-US" sz="1300" b="1" dirty="0">
                <a:solidFill>
                  <a:srgbClr val="000000"/>
                </a:solidFill>
                <a:latin typeface="Helvetica" pitchFamily="34" charset="0"/>
                <a:ea typeface="Helvetica" pitchFamily="34" charset="-122"/>
                <a:cs typeface="Helvetica" pitchFamily="34" charset="-120"/>
              </a:rPr>
              <a:t>TEDx Talks</a:t>
            </a:r>
            <a:endParaRPr lang="en-US" sz="1300" dirty="0"/>
          </a:p>
        </p:txBody>
      </p:sp>
      <p:sp>
        <p:nvSpPr>
          <p:cNvPr id="16" name="Text 14"/>
          <p:cNvSpPr/>
          <p:nvPr/>
        </p:nvSpPr>
        <p:spPr>
          <a:xfrm>
            <a:off x="6172200" y="2514600"/>
            <a:ext cx="2103120" cy="320040"/>
          </a:xfrm>
          <a:prstGeom prst="rect">
            <a:avLst/>
          </a:prstGeom>
          <a:noFill/>
          <a:ln/>
        </p:spPr>
        <p:txBody>
          <a:bodyPr wrap="square" rtlCol="0" anchor="ctr"/>
          <a:lstStyle/>
          <a:p>
            <a:pPr indent="0" marL="0">
              <a:buNone/>
            </a:pPr>
            <a:r>
              <a:rPr lang="en-US" sz="1000" dirty="0">
                <a:solidFill>
                  <a:srgbClr val="555555"/>
                </a:solidFill>
                <a:latin typeface="Helvetica" pitchFamily="34" charset="0"/>
                <a:ea typeface="Helvetica" pitchFamily="34" charset="-122"/>
                <a:cs typeface="Helvetica" pitchFamily="34" charset="-120"/>
              </a:rPr>
              <a:t>Core speaker sessions.</a:t>
            </a:r>
            <a:endParaRPr lang="en-US" sz="1000" dirty="0"/>
          </a:p>
        </p:txBody>
      </p:sp>
      <p:sp>
        <p:nvSpPr>
          <p:cNvPr id="17" name="Shape 15"/>
          <p:cNvSpPr/>
          <p:nvPr/>
        </p:nvSpPr>
        <p:spPr>
          <a:xfrm>
            <a:off x="731520" y="3108960"/>
            <a:ext cx="2377440" cy="1188720"/>
          </a:xfrm>
          <a:prstGeom prst="rect">
            <a:avLst/>
          </a:prstGeom>
          <a:solidFill>
            <a:srgbClr val="FAFAFA"/>
          </a:solidFill>
          <a:ln w="12700">
            <a:solidFill>
              <a:srgbClr val="E2E2E2"/>
            </a:solidFill>
            <a:prstDash val="solid"/>
          </a:ln>
        </p:spPr>
      </p:sp>
      <p:sp>
        <p:nvSpPr>
          <p:cNvPr id="18" name="Text 16"/>
          <p:cNvSpPr/>
          <p:nvPr/>
        </p:nvSpPr>
        <p:spPr>
          <a:xfrm>
            <a:off x="868680" y="3218688"/>
            <a:ext cx="2103120" cy="22860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PHASE IV</a:t>
            </a:r>
            <a:endParaRPr lang="en-US" sz="900" dirty="0"/>
          </a:p>
        </p:txBody>
      </p:sp>
      <p:sp>
        <p:nvSpPr>
          <p:cNvPr id="19" name="Text 17"/>
          <p:cNvSpPr/>
          <p:nvPr/>
        </p:nvSpPr>
        <p:spPr>
          <a:xfrm>
            <a:off x="868680" y="3456432"/>
            <a:ext cx="2103120" cy="411480"/>
          </a:xfrm>
          <a:prstGeom prst="rect">
            <a:avLst/>
          </a:prstGeom>
          <a:noFill/>
          <a:ln/>
        </p:spPr>
        <p:txBody>
          <a:bodyPr wrap="square" rtlCol="0" anchor="ctr"/>
          <a:lstStyle/>
          <a:p>
            <a:pPr indent="0" marL="0">
              <a:buNone/>
            </a:pPr>
            <a:r>
              <a:rPr lang="en-US" sz="1300" b="1" dirty="0">
                <a:solidFill>
                  <a:srgbClr val="000000"/>
                </a:solidFill>
                <a:latin typeface="Helvetica" pitchFamily="34" charset="0"/>
                <a:ea typeface="Helvetica" pitchFamily="34" charset="-122"/>
                <a:cs typeface="Helvetica" pitchFamily="34" charset="-120"/>
              </a:rPr>
              <a:t>Interactive Segment</a:t>
            </a:r>
            <a:endParaRPr lang="en-US" sz="1300" dirty="0"/>
          </a:p>
        </p:txBody>
      </p:sp>
      <p:sp>
        <p:nvSpPr>
          <p:cNvPr id="20" name="Text 18"/>
          <p:cNvSpPr/>
          <p:nvPr/>
        </p:nvSpPr>
        <p:spPr>
          <a:xfrm>
            <a:off x="868680" y="3886200"/>
            <a:ext cx="2103120" cy="320040"/>
          </a:xfrm>
          <a:prstGeom prst="rect">
            <a:avLst/>
          </a:prstGeom>
          <a:noFill/>
          <a:ln/>
        </p:spPr>
        <p:txBody>
          <a:bodyPr wrap="square" rtlCol="0" anchor="ctr"/>
          <a:lstStyle/>
          <a:p>
            <a:pPr indent="0" marL="0">
              <a:buNone/>
            </a:pPr>
            <a:r>
              <a:rPr lang="en-US" sz="1000" dirty="0">
                <a:solidFill>
                  <a:srgbClr val="555555"/>
                </a:solidFill>
                <a:latin typeface="Helvetica" pitchFamily="34" charset="0"/>
                <a:ea typeface="Helvetica" pitchFamily="34" charset="-122"/>
                <a:cs typeface="Helvetica" pitchFamily="34" charset="-120"/>
              </a:rPr>
              <a:t>Audience workshops.</a:t>
            </a:r>
            <a:endParaRPr lang="en-US" sz="1000" dirty="0"/>
          </a:p>
        </p:txBody>
      </p:sp>
      <p:sp>
        <p:nvSpPr>
          <p:cNvPr id="21" name="Shape 19"/>
          <p:cNvSpPr/>
          <p:nvPr/>
        </p:nvSpPr>
        <p:spPr>
          <a:xfrm>
            <a:off x="3383280" y="3108960"/>
            <a:ext cx="2377440" cy="1188720"/>
          </a:xfrm>
          <a:prstGeom prst="rect">
            <a:avLst/>
          </a:prstGeom>
          <a:solidFill>
            <a:srgbClr val="FAFAFA"/>
          </a:solidFill>
          <a:ln w="12700">
            <a:solidFill>
              <a:srgbClr val="E2E2E2"/>
            </a:solidFill>
            <a:prstDash val="solid"/>
          </a:ln>
        </p:spPr>
      </p:sp>
      <p:sp>
        <p:nvSpPr>
          <p:cNvPr id="22" name="Text 20"/>
          <p:cNvSpPr/>
          <p:nvPr/>
        </p:nvSpPr>
        <p:spPr>
          <a:xfrm>
            <a:off x="3520440" y="3218688"/>
            <a:ext cx="2103120" cy="22860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PHASE V</a:t>
            </a:r>
            <a:endParaRPr lang="en-US" sz="900" dirty="0"/>
          </a:p>
        </p:txBody>
      </p:sp>
      <p:sp>
        <p:nvSpPr>
          <p:cNvPr id="23" name="Text 21"/>
          <p:cNvSpPr/>
          <p:nvPr/>
        </p:nvSpPr>
        <p:spPr>
          <a:xfrm>
            <a:off x="3520440" y="3456432"/>
            <a:ext cx="2103120" cy="411480"/>
          </a:xfrm>
          <a:prstGeom prst="rect">
            <a:avLst/>
          </a:prstGeom>
          <a:noFill/>
          <a:ln/>
        </p:spPr>
        <p:txBody>
          <a:bodyPr wrap="square" rtlCol="0" anchor="ctr"/>
          <a:lstStyle/>
          <a:p>
            <a:pPr indent="0" marL="0">
              <a:buNone/>
            </a:pPr>
            <a:r>
              <a:rPr lang="en-US" sz="1300" b="1" dirty="0">
                <a:solidFill>
                  <a:srgbClr val="000000"/>
                </a:solidFill>
                <a:latin typeface="Helvetica" pitchFamily="34" charset="0"/>
                <a:ea typeface="Helvetica" pitchFamily="34" charset="-122"/>
                <a:cs typeface="Helvetica" pitchFamily="34" charset="-120"/>
              </a:rPr>
              <a:t>Speaker Interaction</a:t>
            </a:r>
            <a:endParaRPr lang="en-US" sz="1300" dirty="0"/>
          </a:p>
        </p:txBody>
      </p:sp>
      <p:sp>
        <p:nvSpPr>
          <p:cNvPr id="24" name="Text 22"/>
          <p:cNvSpPr/>
          <p:nvPr/>
        </p:nvSpPr>
        <p:spPr>
          <a:xfrm>
            <a:off x="3520440" y="3886200"/>
            <a:ext cx="2103120" cy="320040"/>
          </a:xfrm>
          <a:prstGeom prst="rect">
            <a:avLst/>
          </a:prstGeom>
          <a:noFill/>
          <a:ln/>
        </p:spPr>
        <p:txBody>
          <a:bodyPr wrap="square" rtlCol="0" anchor="ctr"/>
          <a:lstStyle/>
          <a:p>
            <a:pPr indent="0" marL="0">
              <a:buNone/>
            </a:pPr>
            <a:r>
              <a:rPr lang="en-US" sz="1000" dirty="0">
                <a:solidFill>
                  <a:srgbClr val="555555"/>
                </a:solidFill>
                <a:latin typeface="Helvetica" pitchFamily="34" charset="0"/>
                <a:ea typeface="Helvetica" pitchFamily="34" charset="-122"/>
                <a:cs typeface="Helvetica" pitchFamily="34" charset="-120"/>
              </a:rPr>
              <a:t>Direct Q&amp;A circles.</a:t>
            </a:r>
            <a:endParaRPr lang="en-US" sz="1000" dirty="0"/>
          </a:p>
        </p:txBody>
      </p:sp>
      <p:sp>
        <p:nvSpPr>
          <p:cNvPr id="25" name="Shape 23"/>
          <p:cNvSpPr/>
          <p:nvPr/>
        </p:nvSpPr>
        <p:spPr>
          <a:xfrm>
            <a:off x="6035040" y="3108960"/>
            <a:ext cx="2377440" cy="1188720"/>
          </a:xfrm>
          <a:prstGeom prst="rect">
            <a:avLst/>
          </a:prstGeom>
          <a:solidFill>
            <a:srgbClr val="FAFAFA"/>
          </a:solidFill>
          <a:ln w="12700">
            <a:solidFill>
              <a:srgbClr val="E2E2E2"/>
            </a:solidFill>
            <a:prstDash val="solid"/>
          </a:ln>
        </p:spPr>
      </p:sp>
      <p:sp>
        <p:nvSpPr>
          <p:cNvPr id="26" name="Text 24"/>
          <p:cNvSpPr/>
          <p:nvPr/>
        </p:nvSpPr>
        <p:spPr>
          <a:xfrm>
            <a:off x="6172200" y="3218688"/>
            <a:ext cx="2103120" cy="22860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PHASE VI</a:t>
            </a:r>
            <a:endParaRPr lang="en-US" sz="900" dirty="0"/>
          </a:p>
        </p:txBody>
      </p:sp>
      <p:sp>
        <p:nvSpPr>
          <p:cNvPr id="27" name="Text 25"/>
          <p:cNvSpPr/>
          <p:nvPr/>
        </p:nvSpPr>
        <p:spPr>
          <a:xfrm>
            <a:off x="6172200" y="3456432"/>
            <a:ext cx="2103120" cy="411480"/>
          </a:xfrm>
          <a:prstGeom prst="rect">
            <a:avLst/>
          </a:prstGeom>
          <a:noFill/>
          <a:ln/>
        </p:spPr>
        <p:txBody>
          <a:bodyPr wrap="square" rtlCol="0" anchor="ctr"/>
          <a:lstStyle/>
          <a:p>
            <a:pPr indent="0" marL="0">
              <a:buNone/>
            </a:pPr>
            <a:r>
              <a:rPr lang="en-US" sz="1300" b="1" dirty="0">
                <a:solidFill>
                  <a:srgbClr val="000000"/>
                </a:solidFill>
                <a:latin typeface="Helvetica" pitchFamily="34" charset="0"/>
                <a:ea typeface="Helvetica" pitchFamily="34" charset="-122"/>
                <a:cs typeface="Helvetica" pitchFamily="34" charset="-120"/>
              </a:rPr>
              <a:t>Closing Session</a:t>
            </a:r>
            <a:endParaRPr lang="en-US" sz="1300" dirty="0"/>
          </a:p>
        </p:txBody>
      </p:sp>
      <p:sp>
        <p:nvSpPr>
          <p:cNvPr id="28" name="Text 26"/>
          <p:cNvSpPr/>
          <p:nvPr/>
        </p:nvSpPr>
        <p:spPr>
          <a:xfrm>
            <a:off x="6172200" y="3886200"/>
            <a:ext cx="2103120" cy="320040"/>
          </a:xfrm>
          <a:prstGeom prst="rect">
            <a:avLst/>
          </a:prstGeom>
          <a:noFill/>
          <a:ln/>
        </p:spPr>
        <p:txBody>
          <a:bodyPr wrap="square" rtlCol="0" anchor="ctr"/>
          <a:lstStyle/>
          <a:p>
            <a:pPr indent="0" marL="0">
              <a:buNone/>
            </a:pPr>
            <a:r>
              <a:rPr lang="en-US" sz="1000" dirty="0">
                <a:solidFill>
                  <a:srgbClr val="555555"/>
                </a:solidFill>
                <a:latin typeface="Helvetica" pitchFamily="34" charset="0"/>
                <a:ea typeface="Helvetica" pitchFamily="34" charset="-122"/>
                <a:cs typeface="Helvetica" pitchFamily="34" charset="-120"/>
              </a:rPr>
              <a:t>Insights synthesis &amp; wrap.</a:t>
            </a:r>
            <a:endParaRPr lang="en-US" sz="1000" dirty="0"/>
          </a:p>
        </p:txBody>
      </p:sp>
      <p:sp>
        <p:nvSpPr>
          <p:cNvPr id="29" name="Shape 27"/>
          <p:cNvSpPr/>
          <p:nvPr/>
        </p:nvSpPr>
        <p:spPr>
          <a:xfrm>
            <a:off x="731520" y="4526280"/>
            <a:ext cx="7680960" cy="0"/>
          </a:xfrm>
          <a:prstGeom prst="line">
            <a:avLst/>
          </a:prstGeom>
          <a:noFill/>
          <a:ln w="12700">
            <a:solidFill>
              <a:srgbClr val="E2E2E2"/>
            </a:solidFill>
            <a:prstDash val="solid"/>
          </a:ln>
        </p:spPr>
      </p:sp>
      <p:sp>
        <p:nvSpPr>
          <p:cNvPr id="30" name="Text 28"/>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31" name="Text 29"/>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07 / 20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08 — VOICES ON STAGE (TENTATIVE)</a:t>
            </a:r>
            <a:endParaRPr lang="en-US" sz="1000" dirty="0"/>
          </a:p>
        </p:txBody>
      </p:sp>
      <p:sp>
        <p:nvSpPr>
          <p:cNvPr id="4" name="Text 2"/>
          <p:cNvSpPr/>
          <p:nvPr/>
        </p:nvSpPr>
        <p:spPr>
          <a:xfrm>
            <a:off x="731520" y="1005840"/>
            <a:ext cx="7680960" cy="27432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SUBJECT TO FINAL AVAILABILITY AND CONFIRMATION</a:t>
            </a:r>
            <a:endParaRPr lang="en-US" sz="900" dirty="0"/>
          </a:p>
        </p:txBody>
      </p:sp>
      <p:sp>
        <p:nvSpPr>
          <p:cNvPr id="5" name="Shape 3"/>
          <p:cNvSpPr/>
          <p:nvPr/>
        </p:nvSpPr>
        <p:spPr>
          <a:xfrm>
            <a:off x="731520" y="1554480"/>
            <a:ext cx="3657600" cy="1143000"/>
          </a:xfrm>
          <a:prstGeom prst="rect">
            <a:avLst/>
          </a:prstGeom>
          <a:solidFill>
            <a:srgbClr val="F9F9FA"/>
          </a:solidFill>
          <a:ln w="12700">
            <a:solidFill>
              <a:srgbClr val="E2E2E2"/>
            </a:solidFill>
            <a:prstDash val="solid"/>
          </a:ln>
        </p:spPr>
      </p:sp>
      <p:sp>
        <p:nvSpPr>
          <p:cNvPr id="6" name="Text 4"/>
          <p:cNvSpPr/>
          <p:nvPr/>
        </p:nvSpPr>
        <p:spPr>
          <a:xfrm>
            <a:off x="960120" y="1737360"/>
            <a:ext cx="3200400" cy="22860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ACADEMIC &amp; RESEARCH</a:t>
            </a:r>
            <a:endParaRPr lang="en-US" sz="900" dirty="0"/>
          </a:p>
        </p:txBody>
      </p:sp>
      <p:sp>
        <p:nvSpPr>
          <p:cNvPr id="7" name="Text 5"/>
          <p:cNvSpPr/>
          <p:nvPr/>
        </p:nvSpPr>
        <p:spPr>
          <a:xfrm>
            <a:off x="960120" y="2011680"/>
            <a:ext cx="3200400" cy="50292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Prof. J. Anuradha Jonnalagadda</a:t>
            </a:r>
            <a:endParaRPr lang="en-US" sz="1600" dirty="0"/>
          </a:p>
        </p:txBody>
      </p:sp>
      <p:sp>
        <p:nvSpPr>
          <p:cNvPr id="8" name="Shape 6"/>
          <p:cNvSpPr/>
          <p:nvPr/>
        </p:nvSpPr>
        <p:spPr>
          <a:xfrm>
            <a:off x="4754880" y="1554480"/>
            <a:ext cx="3657600" cy="1143000"/>
          </a:xfrm>
          <a:prstGeom prst="rect">
            <a:avLst/>
          </a:prstGeom>
          <a:solidFill>
            <a:srgbClr val="F9F9FA"/>
          </a:solidFill>
          <a:ln w="12700">
            <a:solidFill>
              <a:srgbClr val="E2E2E2"/>
            </a:solidFill>
            <a:prstDash val="solid"/>
          </a:ln>
        </p:spPr>
      </p:sp>
      <p:sp>
        <p:nvSpPr>
          <p:cNvPr id="9" name="Text 7"/>
          <p:cNvSpPr/>
          <p:nvPr/>
        </p:nvSpPr>
        <p:spPr>
          <a:xfrm>
            <a:off x="4983480" y="1737360"/>
            <a:ext cx="3200400" cy="22860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FILM &amp; NARRATIVE</a:t>
            </a:r>
            <a:endParaRPr lang="en-US" sz="900" dirty="0"/>
          </a:p>
        </p:txBody>
      </p:sp>
      <p:sp>
        <p:nvSpPr>
          <p:cNvPr id="10" name="Text 8"/>
          <p:cNvSpPr/>
          <p:nvPr/>
        </p:nvSpPr>
        <p:spPr>
          <a:xfrm>
            <a:off x="4983480" y="2011680"/>
            <a:ext cx="3200400" cy="50292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Ms. B. V. Nandini Reddy</a:t>
            </a:r>
            <a:endParaRPr lang="en-US" sz="1600" dirty="0"/>
          </a:p>
        </p:txBody>
      </p:sp>
      <p:sp>
        <p:nvSpPr>
          <p:cNvPr id="11" name="Shape 9"/>
          <p:cNvSpPr/>
          <p:nvPr/>
        </p:nvSpPr>
        <p:spPr>
          <a:xfrm>
            <a:off x="731520" y="2926080"/>
            <a:ext cx="3657600" cy="1143000"/>
          </a:xfrm>
          <a:prstGeom prst="rect">
            <a:avLst/>
          </a:prstGeom>
          <a:solidFill>
            <a:srgbClr val="F9F9FA"/>
          </a:solidFill>
          <a:ln w="12700">
            <a:solidFill>
              <a:srgbClr val="E2E2E2"/>
            </a:solidFill>
            <a:prstDash val="solid"/>
          </a:ln>
        </p:spPr>
      </p:sp>
      <p:sp>
        <p:nvSpPr>
          <p:cNvPr id="12" name="Text 10"/>
          <p:cNvSpPr/>
          <p:nvPr/>
        </p:nvSpPr>
        <p:spPr>
          <a:xfrm>
            <a:off x="960120" y="3108960"/>
            <a:ext cx="3200400" cy="22860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CONSERVATION &amp; ARTS</a:t>
            </a:r>
            <a:endParaRPr lang="en-US" sz="900" dirty="0"/>
          </a:p>
        </p:txBody>
      </p:sp>
      <p:sp>
        <p:nvSpPr>
          <p:cNvPr id="13" name="Text 11"/>
          <p:cNvSpPr/>
          <p:nvPr/>
        </p:nvSpPr>
        <p:spPr>
          <a:xfrm>
            <a:off x="960120" y="3383280"/>
            <a:ext cx="3200400" cy="50292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Ms. Amala Akkineni</a:t>
            </a:r>
            <a:endParaRPr lang="en-US" sz="1600" dirty="0"/>
          </a:p>
        </p:txBody>
      </p:sp>
      <p:sp>
        <p:nvSpPr>
          <p:cNvPr id="14" name="Shape 12"/>
          <p:cNvSpPr/>
          <p:nvPr/>
        </p:nvSpPr>
        <p:spPr>
          <a:xfrm>
            <a:off x="4754880" y="2926080"/>
            <a:ext cx="3657600" cy="1143000"/>
          </a:xfrm>
          <a:prstGeom prst="rect">
            <a:avLst/>
          </a:prstGeom>
          <a:solidFill>
            <a:srgbClr val="F9F9FA"/>
          </a:solidFill>
          <a:ln w="12700">
            <a:solidFill>
              <a:srgbClr val="E2E2E2"/>
            </a:solidFill>
            <a:prstDash val="solid"/>
          </a:ln>
        </p:spPr>
      </p:sp>
      <p:sp>
        <p:nvSpPr>
          <p:cNvPr id="15" name="Text 13"/>
          <p:cNvSpPr/>
          <p:nvPr/>
        </p:nvSpPr>
        <p:spPr>
          <a:xfrm>
            <a:off x="4983480" y="3108960"/>
            <a:ext cx="3200400" cy="228600"/>
          </a:xfrm>
          <a:prstGeom prst="rect">
            <a:avLst/>
          </a:prstGeom>
          <a:noFill/>
          <a:ln/>
        </p:spPr>
        <p:txBody>
          <a:bodyPr wrap="square" rtlCol="0" anchor="ctr"/>
          <a:lstStyle/>
          <a:p>
            <a:pPr indent="0" marL="0">
              <a:buNone/>
            </a:pPr>
            <a:r>
              <a:rPr lang="en-US" sz="900" b="1" dirty="0">
                <a:solidFill>
                  <a:srgbClr val="EB0028"/>
                </a:solidFill>
                <a:latin typeface="Helvetica" pitchFamily="34" charset="0"/>
                <a:ea typeface="Helvetica" pitchFamily="34" charset="-122"/>
                <a:cs typeface="Helvetica" pitchFamily="34" charset="-120"/>
              </a:rPr>
              <a:t>AEROSPACE &amp; INNOVATION</a:t>
            </a:r>
            <a:endParaRPr lang="en-US" sz="900" dirty="0"/>
          </a:p>
        </p:txBody>
      </p:sp>
      <p:sp>
        <p:nvSpPr>
          <p:cNvPr id="16" name="Text 14"/>
          <p:cNvSpPr/>
          <p:nvPr/>
        </p:nvSpPr>
        <p:spPr>
          <a:xfrm>
            <a:off x="4983480" y="3383280"/>
            <a:ext cx="3200400" cy="50292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Mr. Pawan Kumar Chandana</a:t>
            </a:r>
            <a:endParaRPr lang="en-US" sz="1600" dirty="0"/>
          </a:p>
        </p:txBody>
      </p:sp>
      <p:sp>
        <p:nvSpPr>
          <p:cNvPr id="17" name="Shape 15"/>
          <p:cNvSpPr/>
          <p:nvPr/>
        </p:nvSpPr>
        <p:spPr>
          <a:xfrm>
            <a:off x="731520" y="4526280"/>
            <a:ext cx="7680960" cy="0"/>
          </a:xfrm>
          <a:prstGeom prst="line">
            <a:avLst/>
          </a:prstGeom>
          <a:noFill/>
          <a:ln w="12700">
            <a:solidFill>
              <a:srgbClr val="E2E2E2"/>
            </a:solidFill>
            <a:prstDash val="solid"/>
          </a:ln>
        </p:spPr>
      </p:sp>
      <p:sp>
        <p:nvSpPr>
          <p:cNvPr id="18" name="Text 16"/>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9" name="Text 17"/>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08 / 20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09 — GOVERNANCE &amp; EXECUTION</a:t>
            </a:r>
            <a:endParaRPr lang="en-US" sz="1000" dirty="0"/>
          </a:p>
        </p:txBody>
      </p:sp>
      <p:sp>
        <p:nvSpPr>
          <p:cNvPr id="4" name="Text 2"/>
          <p:cNvSpPr/>
          <p:nvPr/>
        </p:nvSpPr>
        <p:spPr>
          <a:xfrm>
            <a:off x="731520" y="1005840"/>
            <a:ext cx="7680960" cy="548640"/>
          </a:xfrm>
          <a:prstGeom prst="rect">
            <a:avLst/>
          </a:prstGeom>
          <a:noFill/>
          <a:ln/>
        </p:spPr>
        <p:txBody>
          <a:bodyPr wrap="square" rtlCol="0" anchor="ctr"/>
          <a:lstStyle/>
          <a:p>
            <a:pPr indent="0" marL="0">
              <a:buNone/>
            </a:pPr>
            <a:r>
              <a:rPr lang="en-US" sz="2000" b="1" dirty="0">
                <a:solidFill>
                  <a:srgbClr val="000000"/>
                </a:solidFill>
                <a:latin typeface="Helvetica" pitchFamily="34" charset="0"/>
                <a:ea typeface="Helvetica" pitchFamily="34" charset="-122"/>
                <a:cs typeface="Helvetica" pitchFamily="34" charset="-120"/>
              </a:rPr>
              <a:t>Structured for precision, driven by student leadership.</a:t>
            </a:r>
            <a:endParaRPr lang="en-US" sz="2000" dirty="0"/>
          </a:p>
        </p:txBody>
      </p:sp>
      <p:sp>
        <p:nvSpPr>
          <p:cNvPr id="5" name="Shape 3"/>
          <p:cNvSpPr/>
          <p:nvPr/>
        </p:nvSpPr>
        <p:spPr>
          <a:xfrm>
            <a:off x="731520" y="1828800"/>
            <a:ext cx="2377440" cy="1005840"/>
          </a:xfrm>
          <a:prstGeom prst="rect">
            <a:avLst/>
          </a:prstGeom>
          <a:solidFill>
            <a:srgbClr val="FAFAFA"/>
          </a:solidFill>
          <a:ln w="15240">
            <a:solidFill>
              <a:srgbClr val="000000"/>
            </a:solidFill>
            <a:prstDash val="solid"/>
          </a:ln>
        </p:spPr>
      </p:sp>
      <p:sp>
        <p:nvSpPr>
          <p:cNvPr id="6" name="Text 4"/>
          <p:cNvSpPr/>
          <p:nvPr/>
        </p:nvSpPr>
        <p:spPr>
          <a:xfrm>
            <a:off x="914400" y="2057400"/>
            <a:ext cx="2011680" cy="548640"/>
          </a:xfrm>
          <a:prstGeom prst="rect">
            <a:avLst/>
          </a:prstGeom>
          <a:noFill/>
          <a:ln/>
        </p:spPr>
        <p:txBody>
          <a:bodyPr wrap="square" rtlCol="0" anchor="ctr"/>
          <a:lstStyle/>
          <a:p>
            <a:pPr algn="ctr" indent="0" marL="0">
              <a:buNone/>
            </a:pPr>
            <a:r>
              <a:rPr lang="en-US" sz="1200" b="1" dirty="0">
                <a:solidFill>
                  <a:srgbClr val="000000"/>
                </a:solidFill>
                <a:latin typeface="Helvetica" pitchFamily="34" charset="0"/>
                <a:ea typeface="Helvetica" pitchFamily="34" charset="-122"/>
                <a:cs typeface="Helvetica" pitchFamily="34" charset="-120"/>
              </a:rPr>
              <a:t>Executive Board &amp; Core Team</a:t>
            </a:r>
            <a:endParaRPr lang="en-US" sz="1200" dirty="0"/>
          </a:p>
        </p:txBody>
      </p:sp>
      <p:sp>
        <p:nvSpPr>
          <p:cNvPr id="7" name="Shape 5"/>
          <p:cNvSpPr/>
          <p:nvPr/>
        </p:nvSpPr>
        <p:spPr>
          <a:xfrm>
            <a:off x="3383280" y="1828800"/>
            <a:ext cx="2377440" cy="1005840"/>
          </a:xfrm>
          <a:prstGeom prst="rect">
            <a:avLst/>
          </a:prstGeom>
          <a:solidFill>
            <a:srgbClr val="FAFAFA"/>
          </a:solidFill>
          <a:ln w="15240">
            <a:solidFill>
              <a:srgbClr val="000000"/>
            </a:solidFill>
            <a:prstDash val="solid"/>
          </a:ln>
        </p:spPr>
      </p:sp>
      <p:sp>
        <p:nvSpPr>
          <p:cNvPr id="8" name="Text 6"/>
          <p:cNvSpPr/>
          <p:nvPr/>
        </p:nvSpPr>
        <p:spPr>
          <a:xfrm>
            <a:off x="3566160" y="2057400"/>
            <a:ext cx="2011680" cy="548640"/>
          </a:xfrm>
          <a:prstGeom prst="rect">
            <a:avLst/>
          </a:prstGeom>
          <a:noFill/>
          <a:ln/>
        </p:spPr>
        <p:txBody>
          <a:bodyPr wrap="square" rtlCol="0" anchor="ctr"/>
          <a:lstStyle/>
          <a:p>
            <a:pPr algn="ctr" indent="0" marL="0">
              <a:buNone/>
            </a:pPr>
            <a:r>
              <a:rPr lang="en-US" sz="1200" b="1" dirty="0">
                <a:solidFill>
                  <a:srgbClr val="000000"/>
                </a:solidFill>
                <a:latin typeface="Helvetica" pitchFamily="34" charset="0"/>
                <a:ea typeface="Helvetica" pitchFamily="34" charset="-122"/>
                <a:cs typeface="Helvetica" pitchFamily="34" charset="-120"/>
              </a:rPr>
              <a:t>Content &amp; Speaker Management</a:t>
            </a:r>
            <a:endParaRPr lang="en-US" sz="1200" dirty="0"/>
          </a:p>
        </p:txBody>
      </p:sp>
      <p:sp>
        <p:nvSpPr>
          <p:cNvPr id="9" name="Shape 7"/>
          <p:cNvSpPr/>
          <p:nvPr/>
        </p:nvSpPr>
        <p:spPr>
          <a:xfrm>
            <a:off x="6035040" y="1828800"/>
            <a:ext cx="2377440" cy="1005840"/>
          </a:xfrm>
          <a:prstGeom prst="rect">
            <a:avLst/>
          </a:prstGeom>
          <a:solidFill>
            <a:srgbClr val="FAFAFA"/>
          </a:solidFill>
          <a:ln w="15240">
            <a:solidFill>
              <a:srgbClr val="000000"/>
            </a:solidFill>
            <a:prstDash val="solid"/>
          </a:ln>
        </p:spPr>
      </p:sp>
      <p:sp>
        <p:nvSpPr>
          <p:cNvPr id="10" name="Text 8"/>
          <p:cNvSpPr/>
          <p:nvPr/>
        </p:nvSpPr>
        <p:spPr>
          <a:xfrm>
            <a:off x="6217920" y="2057400"/>
            <a:ext cx="2011680" cy="548640"/>
          </a:xfrm>
          <a:prstGeom prst="rect">
            <a:avLst/>
          </a:prstGeom>
          <a:noFill/>
          <a:ln/>
        </p:spPr>
        <p:txBody>
          <a:bodyPr wrap="square" rtlCol="0" anchor="ctr"/>
          <a:lstStyle/>
          <a:p>
            <a:pPr algn="ctr" indent="0" marL="0">
              <a:buNone/>
            </a:pPr>
            <a:r>
              <a:rPr lang="en-US" sz="1200" b="1" dirty="0">
                <a:solidFill>
                  <a:srgbClr val="000000"/>
                </a:solidFill>
                <a:latin typeface="Helvetica" pitchFamily="34" charset="0"/>
                <a:ea typeface="Helvetica" pitchFamily="34" charset="-122"/>
                <a:cs typeface="Helvetica" pitchFamily="34" charset="-120"/>
              </a:rPr>
              <a:t>Sponsorship &amp; Partnerships</a:t>
            </a:r>
            <a:endParaRPr lang="en-US" sz="1200" dirty="0"/>
          </a:p>
        </p:txBody>
      </p:sp>
      <p:sp>
        <p:nvSpPr>
          <p:cNvPr id="11" name="Shape 9"/>
          <p:cNvSpPr/>
          <p:nvPr/>
        </p:nvSpPr>
        <p:spPr>
          <a:xfrm>
            <a:off x="731520" y="3108960"/>
            <a:ext cx="2377440" cy="1005840"/>
          </a:xfrm>
          <a:prstGeom prst="rect">
            <a:avLst/>
          </a:prstGeom>
          <a:solidFill>
            <a:srgbClr val="FAFAFA"/>
          </a:solidFill>
          <a:ln w="15240">
            <a:solidFill>
              <a:srgbClr val="000000"/>
            </a:solidFill>
            <a:prstDash val="solid"/>
          </a:ln>
        </p:spPr>
      </p:sp>
      <p:sp>
        <p:nvSpPr>
          <p:cNvPr id="12" name="Text 10"/>
          <p:cNvSpPr/>
          <p:nvPr/>
        </p:nvSpPr>
        <p:spPr>
          <a:xfrm>
            <a:off x="914400" y="3337560"/>
            <a:ext cx="2011680" cy="548640"/>
          </a:xfrm>
          <a:prstGeom prst="rect">
            <a:avLst/>
          </a:prstGeom>
          <a:noFill/>
          <a:ln/>
        </p:spPr>
        <p:txBody>
          <a:bodyPr wrap="square" rtlCol="0" anchor="ctr"/>
          <a:lstStyle/>
          <a:p>
            <a:pPr algn="ctr" indent="0" marL="0">
              <a:buNone/>
            </a:pPr>
            <a:r>
              <a:rPr lang="en-US" sz="1200" b="1" dirty="0">
                <a:solidFill>
                  <a:srgbClr val="000000"/>
                </a:solidFill>
                <a:latin typeface="Helvetica" pitchFamily="34" charset="0"/>
                <a:ea typeface="Helvetica" pitchFamily="34" charset="-122"/>
                <a:cs typeface="Helvetica" pitchFamily="34" charset="-120"/>
              </a:rPr>
              <a:t>Marketing &amp; Communications</a:t>
            </a:r>
            <a:endParaRPr lang="en-US" sz="1200" dirty="0"/>
          </a:p>
        </p:txBody>
      </p:sp>
      <p:sp>
        <p:nvSpPr>
          <p:cNvPr id="13" name="Shape 11"/>
          <p:cNvSpPr/>
          <p:nvPr/>
        </p:nvSpPr>
        <p:spPr>
          <a:xfrm>
            <a:off x="3383280" y="3108960"/>
            <a:ext cx="2377440" cy="1005840"/>
          </a:xfrm>
          <a:prstGeom prst="rect">
            <a:avLst/>
          </a:prstGeom>
          <a:solidFill>
            <a:srgbClr val="FAFAFA"/>
          </a:solidFill>
          <a:ln w="15240">
            <a:solidFill>
              <a:srgbClr val="000000"/>
            </a:solidFill>
            <a:prstDash val="solid"/>
          </a:ln>
        </p:spPr>
      </p:sp>
      <p:sp>
        <p:nvSpPr>
          <p:cNvPr id="14" name="Text 12"/>
          <p:cNvSpPr/>
          <p:nvPr/>
        </p:nvSpPr>
        <p:spPr>
          <a:xfrm>
            <a:off x="3566160" y="3337560"/>
            <a:ext cx="2011680" cy="548640"/>
          </a:xfrm>
          <a:prstGeom prst="rect">
            <a:avLst/>
          </a:prstGeom>
          <a:noFill/>
          <a:ln/>
        </p:spPr>
        <p:txBody>
          <a:bodyPr wrap="square" rtlCol="0" anchor="ctr"/>
          <a:lstStyle/>
          <a:p>
            <a:pPr algn="ctr" indent="0" marL="0">
              <a:buNone/>
            </a:pPr>
            <a:r>
              <a:rPr lang="en-US" sz="1200" b="1" dirty="0">
                <a:solidFill>
                  <a:srgbClr val="000000"/>
                </a:solidFill>
                <a:latin typeface="Helvetica" pitchFamily="34" charset="0"/>
                <a:ea typeface="Helvetica" pitchFamily="34" charset="-122"/>
                <a:cs typeface="Helvetica" pitchFamily="34" charset="-120"/>
              </a:rPr>
              <a:t>Design &amp; Creative Studio</a:t>
            </a:r>
            <a:endParaRPr lang="en-US" sz="1200" dirty="0"/>
          </a:p>
        </p:txBody>
      </p:sp>
      <p:sp>
        <p:nvSpPr>
          <p:cNvPr id="15" name="Shape 13"/>
          <p:cNvSpPr/>
          <p:nvPr/>
        </p:nvSpPr>
        <p:spPr>
          <a:xfrm>
            <a:off x="6035040" y="3108960"/>
            <a:ext cx="2377440" cy="1005840"/>
          </a:xfrm>
          <a:prstGeom prst="rect">
            <a:avLst/>
          </a:prstGeom>
          <a:solidFill>
            <a:srgbClr val="FAFAFA"/>
          </a:solidFill>
          <a:ln w="15240">
            <a:solidFill>
              <a:srgbClr val="000000"/>
            </a:solidFill>
            <a:prstDash val="solid"/>
          </a:ln>
        </p:spPr>
      </p:sp>
      <p:sp>
        <p:nvSpPr>
          <p:cNvPr id="16" name="Text 14"/>
          <p:cNvSpPr/>
          <p:nvPr/>
        </p:nvSpPr>
        <p:spPr>
          <a:xfrm>
            <a:off x="6217920" y="3337560"/>
            <a:ext cx="2011680" cy="548640"/>
          </a:xfrm>
          <a:prstGeom prst="rect">
            <a:avLst/>
          </a:prstGeom>
          <a:noFill/>
          <a:ln/>
        </p:spPr>
        <p:txBody>
          <a:bodyPr wrap="square" rtlCol="0" anchor="ctr"/>
          <a:lstStyle/>
          <a:p>
            <a:pPr algn="ctr" indent="0" marL="0">
              <a:buNone/>
            </a:pPr>
            <a:r>
              <a:rPr lang="en-US" sz="1200" b="1" dirty="0">
                <a:solidFill>
                  <a:srgbClr val="000000"/>
                </a:solidFill>
                <a:latin typeface="Helvetica" pitchFamily="34" charset="0"/>
                <a:ea typeface="Helvetica" pitchFamily="34" charset="-122"/>
                <a:cs typeface="Helvetica" pitchFamily="34" charset="-120"/>
              </a:rPr>
              <a:t>Operations &amp; Event Execution</a:t>
            </a:r>
            <a:endParaRPr lang="en-US" sz="1200" dirty="0"/>
          </a:p>
        </p:txBody>
      </p:sp>
      <p:sp>
        <p:nvSpPr>
          <p:cNvPr id="17" name="Shape 15"/>
          <p:cNvSpPr/>
          <p:nvPr/>
        </p:nvSpPr>
        <p:spPr>
          <a:xfrm>
            <a:off x="731520" y="4526280"/>
            <a:ext cx="7680960" cy="0"/>
          </a:xfrm>
          <a:prstGeom prst="line">
            <a:avLst/>
          </a:prstGeom>
          <a:noFill/>
          <a:ln w="12700">
            <a:solidFill>
              <a:srgbClr val="E2E2E2"/>
            </a:solidFill>
            <a:prstDash val="solid"/>
          </a:ln>
        </p:spPr>
      </p:sp>
      <p:sp>
        <p:nvSpPr>
          <p:cNvPr id="18" name="Text 16"/>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9" name="Text 17"/>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09 / 20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10 — COMMUNITY REACH</a:t>
            </a:r>
            <a:endParaRPr lang="en-US" sz="1000" dirty="0"/>
          </a:p>
        </p:txBody>
      </p:sp>
      <p:sp>
        <p:nvSpPr>
          <p:cNvPr id="4" name="Text 2"/>
          <p:cNvSpPr/>
          <p:nvPr/>
        </p:nvSpPr>
        <p:spPr>
          <a:xfrm>
            <a:off x="731520" y="1280160"/>
            <a:ext cx="3657600" cy="1371600"/>
          </a:xfrm>
          <a:prstGeom prst="rect">
            <a:avLst/>
          </a:prstGeom>
          <a:noFill/>
          <a:ln/>
        </p:spPr>
        <p:txBody>
          <a:bodyPr wrap="square" rtlCol="0" anchor="ctr"/>
          <a:lstStyle/>
          <a:p>
            <a:pPr indent="0" marL="0">
              <a:buNone/>
            </a:pPr>
            <a:r>
              <a:rPr lang="en-US" sz="2200" b="1" dirty="0">
                <a:solidFill>
                  <a:srgbClr val="000000"/>
                </a:solidFill>
                <a:latin typeface="Helvetica" pitchFamily="34" charset="0"/>
                <a:ea typeface="Helvetica" pitchFamily="34" charset="-122"/>
                <a:cs typeface="Helvetica" pitchFamily="34" charset="-120"/>
              </a:rPr>
              <a:t>Engaging the core anchors of the educational ecosystem.</a:t>
            </a:r>
            <a:endParaRPr lang="en-US" sz="2200" dirty="0"/>
          </a:p>
        </p:txBody>
      </p:sp>
      <p:sp>
        <p:nvSpPr>
          <p:cNvPr id="5" name="Text 3"/>
          <p:cNvSpPr/>
          <p:nvPr/>
        </p:nvSpPr>
        <p:spPr>
          <a:xfrm>
            <a:off x="731520" y="2743200"/>
            <a:ext cx="3657600" cy="1371600"/>
          </a:xfrm>
          <a:prstGeom prst="rect">
            <a:avLst/>
          </a:prstGeom>
          <a:noFill/>
          <a:ln/>
        </p:spPr>
        <p:txBody>
          <a:bodyPr wrap="square" rtlCol="0" anchor="ctr"/>
          <a:lstStyle/>
          <a:p>
            <a:pPr indent="0" marL="0">
              <a:buNone/>
            </a:pPr>
            <a:r>
              <a:rPr lang="en-US" sz="1300" dirty="0">
                <a:solidFill>
                  <a:srgbClr val="555555"/>
                </a:solidFill>
                <a:latin typeface="Helvetica" pitchFamily="34" charset="0"/>
                <a:ea typeface="Helvetica" pitchFamily="34" charset="-122"/>
                <a:cs typeface="Helvetica" pitchFamily="34" charset="-120"/>
              </a:rPr>
              <a:t>Rather than relying on inflated metrics, our focus remains absolute: deep, highly targeted resonance among key intellectual communities.</a:t>
            </a:r>
            <a:endParaRPr lang="en-US" sz="1300" dirty="0"/>
          </a:p>
        </p:txBody>
      </p:sp>
      <p:sp>
        <p:nvSpPr>
          <p:cNvPr id="6" name="Text 4"/>
          <p:cNvSpPr/>
          <p:nvPr/>
        </p:nvSpPr>
        <p:spPr>
          <a:xfrm>
            <a:off x="4846320" y="1463040"/>
            <a:ext cx="3566160" cy="54864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01  Ambitious Students</a:t>
            </a:r>
            <a:endParaRPr lang="en-US" sz="1600" dirty="0"/>
          </a:p>
        </p:txBody>
      </p:sp>
      <p:sp>
        <p:nvSpPr>
          <p:cNvPr id="7" name="Shape 5"/>
          <p:cNvSpPr/>
          <p:nvPr/>
        </p:nvSpPr>
        <p:spPr>
          <a:xfrm>
            <a:off x="4846320" y="2103120"/>
            <a:ext cx="3566160" cy="0"/>
          </a:xfrm>
          <a:prstGeom prst="line">
            <a:avLst/>
          </a:prstGeom>
          <a:noFill/>
          <a:ln w="12700">
            <a:solidFill>
              <a:srgbClr val="E2E2E2"/>
            </a:solidFill>
            <a:prstDash val="solid"/>
          </a:ln>
        </p:spPr>
      </p:sp>
      <p:sp>
        <p:nvSpPr>
          <p:cNvPr id="8" name="Text 6"/>
          <p:cNvSpPr/>
          <p:nvPr/>
        </p:nvSpPr>
        <p:spPr>
          <a:xfrm>
            <a:off x="4846320" y="2377440"/>
            <a:ext cx="3566160" cy="54864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02  Educators &amp; Leadership</a:t>
            </a:r>
            <a:endParaRPr lang="en-US" sz="1600" dirty="0"/>
          </a:p>
        </p:txBody>
      </p:sp>
      <p:sp>
        <p:nvSpPr>
          <p:cNvPr id="9" name="Shape 7"/>
          <p:cNvSpPr/>
          <p:nvPr/>
        </p:nvSpPr>
        <p:spPr>
          <a:xfrm>
            <a:off x="4846320" y="3017520"/>
            <a:ext cx="3566160" cy="0"/>
          </a:xfrm>
          <a:prstGeom prst="line">
            <a:avLst/>
          </a:prstGeom>
          <a:noFill/>
          <a:ln w="12700">
            <a:solidFill>
              <a:srgbClr val="E2E2E2"/>
            </a:solidFill>
            <a:prstDash val="solid"/>
          </a:ln>
        </p:spPr>
      </p:sp>
      <p:sp>
        <p:nvSpPr>
          <p:cNvPr id="10" name="Text 8"/>
          <p:cNvSpPr/>
          <p:nvPr/>
        </p:nvSpPr>
        <p:spPr>
          <a:xfrm>
            <a:off x="4846320" y="3291840"/>
            <a:ext cx="3566160" cy="54864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03  Broader Hyderabad Community</a:t>
            </a:r>
            <a:endParaRPr lang="en-US" sz="1600" dirty="0"/>
          </a:p>
        </p:txBody>
      </p:sp>
      <p:sp>
        <p:nvSpPr>
          <p:cNvPr id="11" name="Shape 9"/>
          <p:cNvSpPr/>
          <p:nvPr/>
        </p:nvSpPr>
        <p:spPr>
          <a:xfrm>
            <a:off x="4846320" y="3931920"/>
            <a:ext cx="3566160" cy="0"/>
          </a:xfrm>
          <a:prstGeom prst="line">
            <a:avLst/>
          </a:prstGeom>
          <a:noFill/>
          <a:ln w="12700">
            <a:solidFill>
              <a:srgbClr val="E2E2E2"/>
            </a:solidFill>
            <a:prstDash val="solid"/>
          </a:ln>
        </p:spPr>
      </p:sp>
      <p:sp>
        <p:nvSpPr>
          <p:cNvPr id="12" name="Shape 10"/>
          <p:cNvSpPr/>
          <p:nvPr/>
        </p:nvSpPr>
        <p:spPr>
          <a:xfrm>
            <a:off x="731520" y="4526280"/>
            <a:ext cx="7680960" cy="0"/>
          </a:xfrm>
          <a:prstGeom prst="line">
            <a:avLst/>
          </a:prstGeom>
          <a:noFill/>
          <a:ln w="12700">
            <a:solidFill>
              <a:srgbClr val="E2E2E2"/>
            </a:solidFill>
            <a:prstDash val="solid"/>
          </a:ln>
        </p:spPr>
      </p:sp>
      <p:sp>
        <p:nvSpPr>
          <p:cNvPr id="13" name="Text 11"/>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4" name="Text 12"/>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10 / 20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FFFFFF"/>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AAAAAA"/>
                </a:solidFill>
                <a:latin typeface="Helvetica" pitchFamily="34" charset="0"/>
                <a:ea typeface="Helvetica" pitchFamily="34" charset="-122"/>
                <a:cs typeface="Helvetica" pitchFamily="34" charset="-120"/>
              </a:rPr>
              <a:t>11 — FINANCIAL PARTNERSHIP</a:t>
            </a:r>
            <a:endParaRPr lang="en-US" sz="1000" dirty="0"/>
          </a:p>
        </p:txBody>
      </p:sp>
      <p:sp>
        <p:nvSpPr>
          <p:cNvPr id="4" name="Shape 2"/>
          <p:cNvSpPr/>
          <p:nvPr/>
        </p:nvSpPr>
        <p:spPr>
          <a:xfrm>
            <a:off x="731520" y="1280160"/>
            <a:ext cx="457200" cy="54864"/>
          </a:xfrm>
          <a:prstGeom prst="rect">
            <a:avLst/>
          </a:prstGeom>
          <a:solidFill>
            <a:srgbClr val="EB0028"/>
          </a:solidFill>
          <a:ln/>
        </p:spPr>
      </p:sp>
      <p:sp>
        <p:nvSpPr>
          <p:cNvPr id="5" name="Text 3"/>
          <p:cNvSpPr/>
          <p:nvPr/>
        </p:nvSpPr>
        <p:spPr>
          <a:xfrm>
            <a:off x="731520" y="1554480"/>
            <a:ext cx="7680960" cy="274320"/>
          </a:xfrm>
          <a:prstGeom prst="rect">
            <a:avLst/>
          </a:prstGeom>
          <a:noFill/>
          <a:ln/>
        </p:spPr>
        <p:txBody>
          <a:bodyPr wrap="square" rtlCol="0" anchor="ctr"/>
          <a:lstStyle/>
          <a:p>
            <a:pPr indent="0" marL="0">
              <a:buNone/>
            </a:pPr>
            <a:r>
              <a:rPr lang="en-US" sz="1100" b="1" dirty="0">
                <a:solidFill>
                  <a:srgbClr val="EB0028"/>
                </a:solidFill>
                <a:latin typeface="Helvetica" pitchFamily="34" charset="0"/>
                <a:ea typeface="Helvetica" pitchFamily="34" charset="-122"/>
                <a:cs typeface="Helvetica" pitchFamily="34" charset="-120"/>
              </a:rPr>
              <a:t>INVESTMENT THRESHOLD</a:t>
            </a:r>
            <a:endParaRPr lang="en-US" sz="1100" dirty="0"/>
          </a:p>
        </p:txBody>
      </p:sp>
      <p:sp>
        <p:nvSpPr>
          <p:cNvPr id="6" name="Text 4"/>
          <p:cNvSpPr/>
          <p:nvPr/>
        </p:nvSpPr>
        <p:spPr>
          <a:xfrm>
            <a:off x="731520" y="1920240"/>
            <a:ext cx="7680960" cy="1097280"/>
          </a:xfrm>
          <a:prstGeom prst="rect">
            <a:avLst/>
          </a:prstGeom>
          <a:noFill/>
          <a:ln/>
        </p:spPr>
        <p:txBody>
          <a:bodyPr wrap="square" rtlCol="0" anchor="ctr"/>
          <a:lstStyle/>
          <a:p>
            <a:pPr indent="0" marL="0">
              <a:buNone/>
            </a:pPr>
            <a:r>
              <a:rPr lang="en-US" sz="6000" b="1" dirty="0">
                <a:solidFill>
                  <a:srgbClr val="FFFFFF"/>
                </a:solidFill>
                <a:latin typeface="Helvetica" pitchFamily="34" charset="0"/>
                <a:ea typeface="Helvetica" pitchFamily="34" charset="-122"/>
                <a:cs typeface="Helvetica" pitchFamily="34" charset="-120"/>
              </a:rPr>
              <a:t>₹50,000+</a:t>
            </a:r>
            <a:endParaRPr lang="en-US" sz="6000" dirty="0"/>
          </a:p>
        </p:txBody>
      </p:sp>
      <p:sp>
        <p:nvSpPr>
          <p:cNvPr id="7" name="Text 5"/>
          <p:cNvSpPr/>
          <p:nvPr/>
        </p:nvSpPr>
        <p:spPr>
          <a:xfrm>
            <a:off x="731520" y="3200400"/>
            <a:ext cx="6400800" cy="914400"/>
          </a:xfrm>
          <a:prstGeom prst="rect">
            <a:avLst/>
          </a:prstGeom>
          <a:noFill/>
          <a:ln/>
        </p:spPr>
        <p:txBody>
          <a:bodyPr wrap="square" rtlCol="0" anchor="ctr"/>
          <a:lstStyle/>
          <a:p>
            <a:pPr indent="0" marL="0">
              <a:buNone/>
            </a:pPr>
            <a:r>
              <a:rPr lang="en-US" sz="1400" dirty="0">
                <a:solidFill>
                  <a:srgbClr val="AAAAAA"/>
                </a:solidFill>
                <a:latin typeface="Helvetica" pitchFamily="34" charset="0"/>
                <a:ea typeface="Helvetica" pitchFamily="34" charset="-122"/>
                <a:cs typeface="Helvetica" pitchFamily="34" charset="-120"/>
              </a:rPr>
              <a:t>Direct support levels structured to enable production excellence while offering clean, tasteful brand positioning.</a:t>
            </a:r>
            <a:endParaRPr lang="en-US" sz="1400" dirty="0"/>
          </a:p>
        </p:txBody>
      </p:sp>
      <p:sp>
        <p:nvSpPr>
          <p:cNvPr id="8" name="Shape 6"/>
          <p:cNvSpPr/>
          <p:nvPr/>
        </p:nvSpPr>
        <p:spPr>
          <a:xfrm>
            <a:off x="731520" y="4526280"/>
            <a:ext cx="7680960" cy="0"/>
          </a:xfrm>
          <a:prstGeom prst="line">
            <a:avLst/>
          </a:prstGeom>
          <a:noFill/>
          <a:ln w="12700">
            <a:solidFill>
              <a:srgbClr val="333333"/>
            </a:solidFill>
            <a:prstDash val="solid"/>
          </a:ln>
        </p:spPr>
      </p:sp>
      <p:sp>
        <p:nvSpPr>
          <p:cNvPr id="9" name="Text 7"/>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FFFFFF"/>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888888"/>
                </a:solidFill>
                <a:latin typeface="Helvetica" pitchFamily="34" charset="0"/>
                <a:ea typeface="Helvetica" pitchFamily="34" charset="-122"/>
                <a:cs typeface="Helvetica" pitchFamily="34" charset="-120"/>
              </a:rPr>
              <a:t> • 21 November 2026</a:t>
            </a:r>
            <a:endParaRPr lang="en-US" sz="1100" dirty="0"/>
          </a:p>
        </p:txBody>
      </p:sp>
      <p:sp>
        <p:nvSpPr>
          <p:cNvPr id="10" name="Text 8"/>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888888"/>
                </a:solidFill>
                <a:latin typeface="Helvetica" pitchFamily="34" charset="0"/>
                <a:ea typeface="Helvetica" pitchFamily="34" charset="-122"/>
                <a:cs typeface="Helvetica" pitchFamily="34" charset="-120"/>
              </a:rPr>
              <a:t>11 / 20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12 — PARTNER BENEFITS</a:t>
            </a:r>
            <a:endParaRPr lang="en-US" sz="1000" dirty="0"/>
          </a:p>
        </p:txBody>
      </p:sp>
      <p:sp>
        <p:nvSpPr>
          <p:cNvPr id="4" name="Text 2"/>
          <p:cNvSpPr/>
          <p:nvPr/>
        </p:nvSpPr>
        <p:spPr>
          <a:xfrm>
            <a:off x="731520" y="1463040"/>
            <a:ext cx="3566160" cy="45720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01  Social Media Promotion</a:t>
            </a:r>
            <a:endParaRPr lang="en-US" sz="1500" dirty="0"/>
          </a:p>
        </p:txBody>
      </p:sp>
      <p:sp>
        <p:nvSpPr>
          <p:cNvPr id="5" name="Shape 3"/>
          <p:cNvSpPr/>
          <p:nvPr/>
        </p:nvSpPr>
        <p:spPr>
          <a:xfrm>
            <a:off x="731520" y="2011680"/>
            <a:ext cx="3566160" cy="0"/>
          </a:xfrm>
          <a:prstGeom prst="line">
            <a:avLst/>
          </a:prstGeom>
          <a:noFill/>
          <a:ln w="12700">
            <a:solidFill>
              <a:srgbClr val="E2E2E2"/>
            </a:solidFill>
            <a:prstDash val="solid"/>
          </a:ln>
        </p:spPr>
      </p:sp>
      <p:sp>
        <p:nvSpPr>
          <p:cNvPr id="6" name="Text 4"/>
          <p:cNvSpPr/>
          <p:nvPr/>
        </p:nvSpPr>
        <p:spPr>
          <a:xfrm>
            <a:off x="731520" y="2377440"/>
            <a:ext cx="3566160" cy="45720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02  Event-Space Branding</a:t>
            </a:r>
            <a:endParaRPr lang="en-US" sz="1500" dirty="0"/>
          </a:p>
        </p:txBody>
      </p:sp>
      <p:sp>
        <p:nvSpPr>
          <p:cNvPr id="7" name="Shape 5"/>
          <p:cNvSpPr/>
          <p:nvPr/>
        </p:nvSpPr>
        <p:spPr>
          <a:xfrm>
            <a:off x="731520" y="2926080"/>
            <a:ext cx="3566160" cy="0"/>
          </a:xfrm>
          <a:prstGeom prst="line">
            <a:avLst/>
          </a:prstGeom>
          <a:noFill/>
          <a:ln w="12700">
            <a:solidFill>
              <a:srgbClr val="E2E2E2"/>
            </a:solidFill>
            <a:prstDash val="solid"/>
          </a:ln>
        </p:spPr>
      </p:sp>
      <p:sp>
        <p:nvSpPr>
          <p:cNvPr id="8" name="Text 6"/>
          <p:cNvSpPr/>
          <p:nvPr/>
        </p:nvSpPr>
        <p:spPr>
          <a:xfrm>
            <a:off x="731520" y="3291840"/>
            <a:ext cx="3566160" cy="45720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03  Dedicated Stall Opportunity</a:t>
            </a:r>
            <a:endParaRPr lang="en-US" sz="1500" dirty="0"/>
          </a:p>
        </p:txBody>
      </p:sp>
      <p:sp>
        <p:nvSpPr>
          <p:cNvPr id="9" name="Shape 7"/>
          <p:cNvSpPr/>
          <p:nvPr/>
        </p:nvSpPr>
        <p:spPr>
          <a:xfrm>
            <a:off x="731520" y="3840480"/>
            <a:ext cx="3566160" cy="0"/>
          </a:xfrm>
          <a:prstGeom prst="line">
            <a:avLst/>
          </a:prstGeom>
          <a:noFill/>
          <a:ln w="12700">
            <a:solidFill>
              <a:srgbClr val="E2E2E2"/>
            </a:solidFill>
            <a:prstDash val="solid"/>
          </a:ln>
        </p:spPr>
      </p:sp>
      <p:sp>
        <p:nvSpPr>
          <p:cNvPr id="10" name="Text 8"/>
          <p:cNvSpPr/>
          <p:nvPr/>
        </p:nvSpPr>
        <p:spPr>
          <a:xfrm>
            <a:off x="4754880" y="1463040"/>
            <a:ext cx="3657600" cy="45720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04  Video Recognition</a:t>
            </a:r>
            <a:endParaRPr lang="en-US" sz="1500" dirty="0"/>
          </a:p>
        </p:txBody>
      </p:sp>
      <p:sp>
        <p:nvSpPr>
          <p:cNvPr id="11" name="Shape 9"/>
          <p:cNvSpPr/>
          <p:nvPr/>
        </p:nvSpPr>
        <p:spPr>
          <a:xfrm>
            <a:off x="4754880" y="2011680"/>
            <a:ext cx="3657600" cy="0"/>
          </a:xfrm>
          <a:prstGeom prst="line">
            <a:avLst/>
          </a:prstGeom>
          <a:noFill/>
          <a:ln w="12700">
            <a:solidFill>
              <a:srgbClr val="E2E2E2"/>
            </a:solidFill>
            <a:prstDash val="solid"/>
          </a:ln>
        </p:spPr>
      </p:sp>
      <p:sp>
        <p:nvSpPr>
          <p:cNvPr id="12" name="Text 10"/>
          <p:cNvSpPr/>
          <p:nvPr/>
        </p:nvSpPr>
        <p:spPr>
          <a:xfrm>
            <a:off x="4754880" y="2377440"/>
            <a:ext cx="3657600" cy="45720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05  On-Event Recognition</a:t>
            </a:r>
            <a:endParaRPr lang="en-US" sz="1500" dirty="0"/>
          </a:p>
        </p:txBody>
      </p:sp>
      <p:sp>
        <p:nvSpPr>
          <p:cNvPr id="13" name="Shape 11"/>
          <p:cNvSpPr/>
          <p:nvPr/>
        </p:nvSpPr>
        <p:spPr>
          <a:xfrm>
            <a:off x="4754880" y="2926080"/>
            <a:ext cx="3657600" cy="0"/>
          </a:xfrm>
          <a:prstGeom prst="line">
            <a:avLst/>
          </a:prstGeom>
          <a:noFill/>
          <a:ln w="12700">
            <a:solidFill>
              <a:srgbClr val="E2E2E2"/>
            </a:solidFill>
            <a:prstDash val="solid"/>
          </a:ln>
        </p:spPr>
      </p:sp>
      <p:sp>
        <p:nvSpPr>
          <p:cNvPr id="14" name="Text 12"/>
          <p:cNvSpPr/>
          <p:nvPr/>
        </p:nvSpPr>
        <p:spPr>
          <a:xfrm>
            <a:off x="4754880" y="3291840"/>
            <a:ext cx="3657600" cy="45720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06  Sponsor Thank-You</a:t>
            </a:r>
            <a:endParaRPr lang="en-US" sz="1500" dirty="0"/>
          </a:p>
        </p:txBody>
      </p:sp>
      <p:sp>
        <p:nvSpPr>
          <p:cNvPr id="15" name="Shape 13"/>
          <p:cNvSpPr/>
          <p:nvPr/>
        </p:nvSpPr>
        <p:spPr>
          <a:xfrm>
            <a:off x="4754880" y="3840480"/>
            <a:ext cx="3657600" cy="0"/>
          </a:xfrm>
          <a:prstGeom prst="line">
            <a:avLst/>
          </a:prstGeom>
          <a:noFill/>
          <a:ln w="12700">
            <a:solidFill>
              <a:srgbClr val="E2E2E2"/>
            </a:solidFill>
            <a:prstDash val="solid"/>
          </a:ln>
        </p:spPr>
      </p:sp>
      <p:sp>
        <p:nvSpPr>
          <p:cNvPr id="16" name="Shape 14"/>
          <p:cNvSpPr/>
          <p:nvPr/>
        </p:nvSpPr>
        <p:spPr>
          <a:xfrm>
            <a:off x="731520" y="4526280"/>
            <a:ext cx="7680960" cy="0"/>
          </a:xfrm>
          <a:prstGeom prst="line">
            <a:avLst/>
          </a:prstGeom>
          <a:noFill/>
          <a:ln w="12700">
            <a:solidFill>
              <a:srgbClr val="E2E2E2"/>
            </a:solidFill>
            <a:prstDash val="solid"/>
          </a:ln>
        </p:spPr>
      </p:sp>
      <p:sp>
        <p:nvSpPr>
          <p:cNvPr id="17" name="Text 15"/>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8" name="Text 16"/>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12 / 20</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13 — TOUCHPOINTS</a:t>
            </a:r>
            <a:endParaRPr lang="en-US" sz="1000" dirty="0"/>
          </a:p>
        </p:txBody>
      </p:sp>
      <p:sp>
        <p:nvSpPr>
          <p:cNvPr id="4" name="Text 2"/>
          <p:cNvSpPr/>
          <p:nvPr/>
        </p:nvSpPr>
        <p:spPr>
          <a:xfrm>
            <a:off x="731520" y="1005840"/>
            <a:ext cx="7680960" cy="548640"/>
          </a:xfrm>
          <a:prstGeom prst="rect">
            <a:avLst/>
          </a:prstGeom>
          <a:noFill/>
          <a:ln/>
        </p:spPr>
        <p:txBody>
          <a:bodyPr wrap="square" rtlCol="0" anchor="ctr"/>
          <a:lstStyle/>
          <a:p>
            <a:pPr indent="0" marL="0">
              <a:buNone/>
            </a:pPr>
            <a:r>
              <a:rPr lang="en-US" sz="2000" b="1" dirty="0">
                <a:solidFill>
                  <a:srgbClr val="000000"/>
                </a:solidFill>
                <a:latin typeface="Helvetica" pitchFamily="34" charset="0"/>
                <a:ea typeface="Helvetica" pitchFamily="34" charset="-122"/>
                <a:cs typeface="Helvetica" pitchFamily="34" charset="-120"/>
              </a:rPr>
              <a:t>Harmonized visual integration across physical and digital spaces.</a:t>
            </a:r>
            <a:endParaRPr lang="en-US" sz="2000" dirty="0"/>
          </a:p>
        </p:txBody>
      </p:sp>
      <p:sp>
        <p:nvSpPr>
          <p:cNvPr id="5" name="Shape 3"/>
          <p:cNvSpPr/>
          <p:nvPr/>
        </p:nvSpPr>
        <p:spPr>
          <a:xfrm>
            <a:off x="731520" y="1645920"/>
            <a:ext cx="2377440" cy="2560320"/>
          </a:xfrm>
          <a:prstGeom prst="rect">
            <a:avLst/>
          </a:prstGeom>
          <a:solidFill>
            <a:srgbClr val="FAFAFA"/>
          </a:solidFill>
          <a:ln w="12700">
            <a:solidFill>
              <a:srgbClr val="E2E2E2"/>
            </a:solidFill>
            <a:prstDash val="solid"/>
          </a:ln>
        </p:spPr>
      </p:sp>
      <p:sp>
        <p:nvSpPr>
          <p:cNvPr id="6" name="Text 4"/>
          <p:cNvSpPr/>
          <p:nvPr/>
        </p:nvSpPr>
        <p:spPr>
          <a:xfrm>
            <a:off x="914400" y="1920240"/>
            <a:ext cx="2011680" cy="274320"/>
          </a:xfrm>
          <a:prstGeom prst="rect">
            <a:avLst/>
          </a:prstGeom>
          <a:noFill/>
          <a:ln/>
        </p:spPr>
        <p:txBody>
          <a:bodyPr wrap="square" rtlCol="0" anchor="ctr"/>
          <a:lstStyle/>
          <a:p>
            <a:pPr indent="0" marL="0">
              <a:buNone/>
            </a:pPr>
            <a:r>
              <a:rPr lang="en-US" sz="1000" b="1" dirty="0">
                <a:solidFill>
                  <a:srgbClr val="EB0028"/>
                </a:solidFill>
                <a:latin typeface="Helvetica" pitchFamily="34" charset="0"/>
                <a:ea typeface="Helvetica" pitchFamily="34" charset="-122"/>
                <a:cs typeface="Helvetica" pitchFamily="34" charset="-120"/>
              </a:rPr>
              <a:t>DIGITAL</a:t>
            </a:r>
            <a:endParaRPr lang="en-US" sz="1000" dirty="0"/>
          </a:p>
        </p:txBody>
      </p:sp>
      <p:sp>
        <p:nvSpPr>
          <p:cNvPr id="7" name="Text 5"/>
          <p:cNvSpPr/>
          <p:nvPr/>
        </p:nvSpPr>
        <p:spPr>
          <a:xfrm>
            <a:off x="914400" y="2286000"/>
            <a:ext cx="2011680" cy="54864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Social &amp; Video</a:t>
            </a:r>
            <a:endParaRPr lang="en-US" sz="1600" dirty="0"/>
          </a:p>
        </p:txBody>
      </p:sp>
      <p:sp>
        <p:nvSpPr>
          <p:cNvPr id="8" name="Text 6"/>
          <p:cNvSpPr/>
          <p:nvPr/>
        </p:nvSpPr>
        <p:spPr>
          <a:xfrm>
            <a:off x="914400" y="3017520"/>
            <a:ext cx="2011680" cy="914400"/>
          </a:xfrm>
          <a:prstGeom prst="rect">
            <a:avLst/>
          </a:prstGeom>
          <a:noFill/>
          <a:ln/>
        </p:spPr>
        <p:txBody>
          <a:bodyPr wrap="square" rtlCol="0" anchor="ctr"/>
          <a:lstStyle/>
          <a:p>
            <a:pPr indent="0" marL="0">
              <a:buNone/>
            </a:pPr>
            <a:r>
              <a:rPr lang="en-US" sz="1200" dirty="0">
                <a:solidFill>
                  <a:srgbClr val="555555"/>
                </a:solidFill>
                <a:latin typeface="Helvetica" pitchFamily="34" charset="0"/>
                <a:ea typeface="Helvetica" pitchFamily="34" charset="-122"/>
                <a:cs typeface="Helvetica" pitchFamily="34" charset="-120"/>
              </a:rPr>
              <a:t>Curated digital insertions and pre-roll acknowledgements.</a:t>
            </a:r>
            <a:endParaRPr lang="en-US" sz="1200" dirty="0"/>
          </a:p>
        </p:txBody>
      </p:sp>
      <p:sp>
        <p:nvSpPr>
          <p:cNvPr id="9" name="Shape 7"/>
          <p:cNvSpPr/>
          <p:nvPr/>
        </p:nvSpPr>
        <p:spPr>
          <a:xfrm>
            <a:off x="3383280" y="1645920"/>
            <a:ext cx="2377440" cy="2560320"/>
          </a:xfrm>
          <a:prstGeom prst="rect">
            <a:avLst/>
          </a:prstGeom>
          <a:solidFill>
            <a:srgbClr val="FAFAFA"/>
          </a:solidFill>
          <a:ln w="12700">
            <a:solidFill>
              <a:srgbClr val="E2E2E2"/>
            </a:solidFill>
            <a:prstDash val="solid"/>
          </a:ln>
        </p:spPr>
      </p:sp>
      <p:sp>
        <p:nvSpPr>
          <p:cNvPr id="10" name="Text 8"/>
          <p:cNvSpPr/>
          <p:nvPr/>
        </p:nvSpPr>
        <p:spPr>
          <a:xfrm>
            <a:off x="3566160" y="1920240"/>
            <a:ext cx="2011680" cy="274320"/>
          </a:xfrm>
          <a:prstGeom prst="rect">
            <a:avLst/>
          </a:prstGeom>
          <a:noFill/>
          <a:ln/>
        </p:spPr>
        <p:txBody>
          <a:bodyPr wrap="square" rtlCol="0" anchor="ctr"/>
          <a:lstStyle/>
          <a:p>
            <a:pPr indent="0" marL="0">
              <a:buNone/>
            </a:pPr>
            <a:r>
              <a:rPr lang="en-US" sz="1000" b="1" dirty="0">
                <a:solidFill>
                  <a:srgbClr val="EB0028"/>
                </a:solidFill>
                <a:latin typeface="Helvetica" pitchFamily="34" charset="0"/>
                <a:ea typeface="Helvetica" pitchFamily="34" charset="-122"/>
                <a:cs typeface="Helvetica" pitchFamily="34" charset="-120"/>
              </a:rPr>
              <a:t>PHYSICAL</a:t>
            </a:r>
            <a:endParaRPr lang="en-US" sz="1000" dirty="0"/>
          </a:p>
        </p:txBody>
      </p:sp>
      <p:sp>
        <p:nvSpPr>
          <p:cNvPr id="11" name="Text 9"/>
          <p:cNvSpPr/>
          <p:nvPr/>
        </p:nvSpPr>
        <p:spPr>
          <a:xfrm>
            <a:off x="3566160" y="2286000"/>
            <a:ext cx="2011680" cy="54864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Venue &amp; Event</a:t>
            </a:r>
            <a:endParaRPr lang="en-US" sz="1600" dirty="0"/>
          </a:p>
        </p:txBody>
      </p:sp>
      <p:sp>
        <p:nvSpPr>
          <p:cNvPr id="12" name="Text 10"/>
          <p:cNvSpPr/>
          <p:nvPr/>
        </p:nvSpPr>
        <p:spPr>
          <a:xfrm>
            <a:off x="3566160" y="3017520"/>
            <a:ext cx="2011680" cy="914400"/>
          </a:xfrm>
          <a:prstGeom prst="rect">
            <a:avLst/>
          </a:prstGeom>
          <a:noFill/>
          <a:ln/>
        </p:spPr>
        <p:txBody>
          <a:bodyPr wrap="square" rtlCol="0" anchor="ctr"/>
          <a:lstStyle/>
          <a:p>
            <a:pPr indent="0" marL="0">
              <a:buNone/>
            </a:pPr>
            <a:r>
              <a:rPr lang="en-US" sz="1200" dirty="0">
                <a:solidFill>
                  <a:srgbClr val="555555"/>
                </a:solidFill>
                <a:latin typeface="Helvetica" pitchFamily="34" charset="0"/>
                <a:ea typeface="Helvetica" pitchFamily="34" charset="-122"/>
                <a:cs typeface="Helvetica" pitchFamily="34" charset="-120"/>
              </a:rPr>
              <a:t>Tasteful placement within conference architecture and stage views.</a:t>
            </a:r>
            <a:endParaRPr lang="en-US" sz="1200" dirty="0"/>
          </a:p>
        </p:txBody>
      </p:sp>
      <p:sp>
        <p:nvSpPr>
          <p:cNvPr id="13" name="Shape 11"/>
          <p:cNvSpPr/>
          <p:nvPr/>
        </p:nvSpPr>
        <p:spPr>
          <a:xfrm>
            <a:off x="6035040" y="1645920"/>
            <a:ext cx="2377440" cy="2560320"/>
          </a:xfrm>
          <a:prstGeom prst="rect">
            <a:avLst/>
          </a:prstGeom>
          <a:solidFill>
            <a:srgbClr val="FAFAFA"/>
          </a:solidFill>
          <a:ln w="12700">
            <a:solidFill>
              <a:srgbClr val="E2E2E2"/>
            </a:solidFill>
            <a:prstDash val="solid"/>
          </a:ln>
        </p:spPr>
      </p:sp>
      <p:sp>
        <p:nvSpPr>
          <p:cNvPr id="14" name="Text 12"/>
          <p:cNvSpPr/>
          <p:nvPr/>
        </p:nvSpPr>
        <p:spPr>
          <a:xfrm>
            <a:off x="6217920" y="1920240"/>
            <a:ext cx="2011680" cy="274320"/>
          </a:xfrm>
          <a:prstGeom prst="rect">
            <a:avLst/>
          </a:prstGeom>
          <a:noFill/>
          <a:ln/>
        </p:spPr>
        <p:txBody>
          <a:bodyPr wrap="square" rtlCol="0" anchor="ctr"/>
          <a:lstStyle/>
          <a:p>
            <a:pPr indent="0" marL="0">
              <a:buNone/>
            </a:pPr>
            <a:r>
              <a:rPr lang="en-US" sz="1000" b="1" dirty="0">
                <a:solidFill>
                  <a:srgbClr val="EB0028"/>
                </a:solidFill>
                <a:latin typeface="Helvetica" pitchFamily="34" charset="0"/>
                <a:ea typeface="Helvetica" pitchFamily="34" charset="-122"/>
                <a:cs typeface="Helvetica" pitchFamily="34" charset="-120"/>
              </a:rPr>
              <a:t>ENGAGEMENT</a:t>
            </a:r>
            <a:endParaRPr lang="en-US" sz="1000" dirty="0"/>
          </a:p>
        </p:txBody>
      </p:sp>
      <p:sp>
        <p:nvSpPr>
          <p:cNvPr id="15" name="Text 13"/>
          <p:cNvSpPr/>
          <p:nvPr/>
        </p:nvSpPr>
        <p:spPr>
          <a:xfrm>
            <a:off x="6217920" y="2286000"/>
            <a:ext cx="2011680" cy="548640"/>
          </a:xfrm>
          <a:prstGeom prst="rect">
            <a:avLst/>
          </a:prstGeom>
          <a:noFill/>
          <a:ln/>
        </p:spPr>
        <p:txBody>
          <a:bodyPr wrap="square" rtlCol="0" anchor="ctr"/>
          <a:lstStyle/>
          <a:p>
            <a:pPr indent="0" marL="0">
              <a:buNone/>
            </a:pPr>
            <a:r>
              <a:rPr lang="en-US" sz="1600" b="1" dirty="0">
                <a:solidFill>
                  <a:srgbClr val="000000"/>
                </a:solidFill>
                <a:latin typeface="Helvetica" pitchFamily="34" charset="0"/>
                <a:ea typeface="Helvetica" pitchFamily="34" charset="-122"/>
                <a:cs typeface="Helvetica" pitchFamily="34" charset="-120"/>
              </a:rPr>
              <a:t>Stall &amp; Thanks</a:t>
            </a:r>
            <a:endParaRPr lang="en-US" sz="1600" dirty="0"/>
          </a:p>
        </p:txBody>
      </p:sp>
      <p:sp>
        <p:nvSpPr>
          <p:cNvPr id="16" name="Text 14"/>
          <p:cNvSpPr/>
          <p:nvPr/>
        </p:nvSpPr>
        <p:spPr>
          <a:xfrm>
            <a:off x="6217920" y="3017520"/>
            <a:ext cx="2011680" cy="914400"/>
          </a:xfrm>
          <a:prstGeom prst="rect">
            <a:avLst/>
          </a:prstGeom>
          <a:noFill/>
          <a:ln/>
        </p:spPr>
        <p:txBody>
          <a:bodyPr wrap="square" rtlCol="0" anchor="ctr"/>
          <a:lstStyle/>
          <a:p>
            <a:pPr indent="0" marL="0">
              <a:buNone/>
            </a:pPr>
            <a:r>
              <a:rPr lang="en-US" sz="1200" dirty="0">
                <a:solidFill>
                  <a:srgbClr val="555555"/>
                </a:solidFill>
                <a:latin typeface="Helvetica" pitchFamily="34" charset="0"/>
                <a:ea typeface="Helvetica" pitchFamily="34" charset="-122"/>
                <a:cs typeface="Helvetica" pitchFamily="34" charset="-120"/>
              </a:rPr>
              <a:t>Interactive presence areas and formal verbal acknowledgements.</a:t>
            </a:r>
            <a:endParaRPr lang="en-US" sz="1200" dirty="0"/>
          </a:p>
        </p:txBody>
      </p:sp>
      <p:sp>
        <p:nvSpPr>
          <p:cNvPr id="17" name="Shape 15"/>
          <p:cNvSpPr/>
          <p:nvPr/>
        </p:nvSpPr>
        <p:spPr>
          <a:xfrm>
            <a:off x="731520" y="4526280"/>
            <a:ext cx="7680960" cy="0"/>
          </a:xfrm>
          <a:prstGeom prst="line">
            <a:avLst/>
          </a:prstGeom>
          <a:noFill/>
          <a:ln w="12700">
            <a:solidFill>
              <a:srgbClr val="E2E2E2"/>
            </a:solidFill>
            <a:prstDash val="solid"/>
          </a:ln>
        </p:spPr>
      </p:sp>
      <p:sp>
        <p:nvSpPr>
          <p:cNvPr id="18" name="Text 16"/>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9" name="Text 17"/>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13 / 20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14 — STRATEGIC RATIONALE</a:t>
            </a:r>
            <a:endParaRPr lang="en-US" sz="1000" dirty="0"/>
          </a:p>
        </p:txBody>
      </p:sp>
      <p:sp>
        <p:nvSpPr>
          <p:cNvPr id="4" name="Text 2"/>
          <p:cNvSpPr/>
          <p:nvPr/>
        </p:nvSpPr>
        <p:spPr>
          <a:xfrm>
            <a:off x="731520" y="1280160"/>
            <a:ext cx="3657600" cy="1097280"/>
          </a:xfrm>
          <a:prstGeom prst="rect">
            <a:avLst/>
          </a:prstGeom>
          <a:noFill/>
          <a:ln/>
        </p:spPr>
        <p:txBody>
          <a:bodyPr wrap="square" rtlCol="0" anchor="ctr"/>
          <a:lstStyle/>
          <a:p>
            <a:pPr indent="0" marL="0">
              <a:buNone/>
            </a:pPr>
            <a:r>
              <a:rPr lang="en-US" sz="2400" b="1" dirty="0">
                <a:solidFill>
                  <a:srgbClr val="000000"/>
                </a:solidFill>
                <a:latin typeface="Helvetica" pitchFamily="34" charset="0"/>
                <a:ea typeface="Helvetica" pitchFamily="34" charset="-122"/>
                <a:cs typeface="Helvetica" pitchFamily="34" charset="-120"/>
              </a:rPr>
              <a:t>Associate with ideas worth spreading.</a:t>
            </a:r>
            <a:endParaRPr lang="en-US" sz="2400" dirty="0"/>
          </a:p>
        </p:txBody>
      </p:sp>
      <p:sp>
        <p:nvSpPr>
          <p:cNvPr id="5" name="Text 3"/>
          <p:cNvSpPr/>
          <p:nvPr/>
        </p:nvSpPr>
        <p:spPr>
          <a:xfrm>
            <a:off x="731520" y="2560320"/>
            <a:ext cx="3657600" cy="1371600"/>
          </a:xfrm>
          <a:prstGeom prst="rect">
            <a:avLst/>
          </a:prstGeom>
          <a:noFill/>
          <a:ln/>
        </p:spPr>
        <p:txBody>
          <a:bodyPr wrap="square" rtlCol="0" anchor="ctr"/>
          <a:lstStyle/>
          <a:p>
            <a:pPr indent="0" marL="0">
              <a:buNone/>
            </a:pPr>
            <a:r>
              <a:rPr lang="en-US" sz="1300" dirty="0">
                <a:solidFill>
                  <a:srgbClr val="555555"/>
                </a:solidFill>
                <a:latin typeface="Helvetica" pitchFamily="34" charset="0"/>
                <a:ea typeface="Helvetica" pitchFamily="34" charset="-122"/>
                <a:cs typeface="Helvetica" pitchFamily="34" charset="-120"/>
              </a:rPr>
              <a:t>Support an independent student initiative that values intellectual rigor above commercial noise.</a:t>
            </a:r>
            <a:endParaRPr lang="en-US" sz="1300" dirty="0"/>
          </a:p>
        </p:txBody>
      </p:sp>
      <p:sp>
        <p:nvSpPr>
          <p:cNvPr id="6" name="Shape 4"/>
          <p:cNvSpPr/>
          <p:nvPr/>
        </p:nvSpPr>
        <p:spPr>
          <a:xfrm>
            <a:off x="4754880" y="1463040"/>
            <a:ext cx="36576" cy="548640"/>
          </a:xfrm>
          <a:prstGeom prst="rect">
            <a:avLst/>
          </a:prstGeom>
          <a:solidFill>
            <a:srgbClr val="000000"/>
          </a:solidFill>
          <a:ln/>
        </p:spPr>
      </p:sp>
      <p:sp>
        <p:nvSpPr>
          <p:cNvPr id="7" name="Text 5"/>
          <p:cNvSpPr/>
          <p:nvPr/>
        </p:nvSpPr>
        <p:spPr>
          <a:xfrm>
            <a:off x="4937760" y="1508760"/>
            <a:ext cx="3474720" cy="548640"/>
          </a:xfrm>
          <a:prstGeom prst="rect">
            <a:avLst/>
          </a:prstGeom>
          <a:noFill/>
          <a:ln/>
        </p:spPr>
        <p:txBody>
          <a:bodyPr wrap="square" rtlCol="0" anchor="ctr"/>
          <a:lstStyle/>
          <a:p>
            <a:pPr indent="0" marL="0">
              <a:buNone/>
            </a:pPr>
            <a:r>
              <a:rPr lang="en-US" sz="1400" b="1" dirty="0">
                <a:solidFill>
                  <a:srgbClr val="000000"/>
                </a:solidFill>
                <a:latin typeface="Helvetica" pitchFamily="34" charset="0"/>
                <a:ea typeface="Helvetica" pitchFamily="34" charset="-122"/>
                <a:cs typeface="Helvetica" pitchFamily="34" charset="-120"/>
              </a:rPr>
              <a:t>Support a student-led platform</a:t>
            </a:r>
            <a:endParaRPr lang="en-US" sz="1400" dirty="0"/>
          </a:p>
        </p:txBody>
      </p:sp>
      <p:sp>
        <p:nvSpPr>
          <p:cNvPr id="8" name="Shape 6"/>
          <p:cNvSpPr/>
          <p:nvPr/>
        </p:nvSpPr>
        <p:spPr>
          <a:xfrm>
            <a:off x="4754880" y="2377440"/>
            <a:ext cx="36576" cy="548640"/>
          </a:xfrm>
          <a:prstGeom prst="rect">
            <a:avLst/>
          </a:prstGeom>
          <a:solidFill>
            <a:srgbClr val="000000"/>
          </a:solidFill>
          <a:ln/>
        </p:spPr>
      </p:sp>
      <p:sp>
        <p:nvSpPr>
          <p:cNvPr id="9" name="Text 7"/>
          <p:cNvSpPr/>
          <p:nvPr/>
        </p:nvSpPr>
        <p:spPr>
          <a:xfrm>
            <a:off x="4937760" y="2423160"/>
            <a:ext cx="3474720" cy="548640"/>
          </a:xfrm>
          <a:prstGeom prst="rect">
            <a:avLst/>
          </a:prstGeom>
          <a:noFill/>
          <a:ln/>
        </p:spPr>
        <p:txBody>
          <a:bodyPr wrap="square" rtlCol="0" anchor="ctr"/>
          <a:lstStyle/>
          <a:p>
            <a:pPr indent="0" marL="0">
              <a:buNone/>
            </a:pPr>
            <a:r>
              <a:rPr lang="en-US" sz="1400" b="1" dirty="0">
                <a:solidFill>
                  <a:srgbClr val="000000"/>
                </a:solidFill>
                <a:latin typeface="Helvetica" pitchFamily="34" charset="0"/>
                <a:ea typeface="Helvetica" pitchFamily="34" charset="-122"/>
                <a:cs typeface="Helvetica" pitchFamily="34" charset="-120"/>
              </a:rPr>
              <a:t>Connect with an engaged youth &amp; school community</a:t>
            </a:r>
            <a:endParaRPr lang="en-US" sz="1400" dirty="0"/>
          </a:p>
        </p:txBody>
      </p:sp>
      <p:sp>
        <p:nvSpPr>
          <p:cNvPr id="10" name="Shape 8"/>
          <p:cNvSpPr/>
          <p:nvPr/>
        </p:nvSpPr>
        <p:spPr>
          <a:xfrm>
            <a:off x="4754880" y="3291840"/>
            <a:ext cx="36576" cy="548640"/>
          </a:xfrm>
          <a:prstGeom prst="rect">
            <a:avLst/>
          </a:prstGeom>
          <a:solidFill>
            <a:srgbClr val="000000"/>
          </a:solidFill>
          <a:ln/>
        </p:spPr>
      </p:sp>
      <p:sp>
        <p:nvSpPr>
          <p:cNvPr id="11" name="Text 9"/>
          <p:cNvSpPr/>
          <p:nvPr/>
        </p:nvSpPr>
        <p:spPr>
          <a:xfrm>
            <a:off x="4937760" y="3337560"/>
            <a:ext cx="3474720" cy="548640"/>
          </a:xfrm>
          <a:prstGeom prst="rect">
            <a:avLst/>
          </a:prstGeom>
          <a:noFill/>
          <a:ln/>
        </p:spPr>
        <p:txBody>
          <a:bodyPr wrap="square" rtlCol="0" anchor="ctr"/>
          <a:lstStyle/>
          <a:p>
            <a:pPr indent="0" marL="0">
              <a:buNone/>
            </a:pPr>
            <a:r>
              <a:rPr lang="en-US" sz="1400" b="1" dirty="0">
                <a:solidFill>
                  <a:srgbClr val="000000"/>
                </a:solidFill>
                <a:latin typeface="Helvetica" pitchFamily="34" charset="0"/>
                <a:ea typeface="Helvetica" pitchFamily="34" charset="-122"/>
                <a:cs typeface="Helvetica" pitchFamily="34" charset="-120"/>
              </a:rPr>
              <a:t>Champion curiosity, confidence &amp; new perspectives</a:t>
            </a:r>
            <a:endParaRPr lang="en-US" sz="1400" dirty="0"/>
          </a:p>
        </p:txBody>
      </p:sp>
      <p:sp>
        <p:nvSpPr>
          <p:cNvPr id="12" name="Shape 10"/>
          <p:cNvSpPr/>
          <p:nvPr/>
        </p:nvSpPr>
        <p:spPr>
          <a:xfrm>
            <a:off x="731520" y="4526280"/>
            <a:ext cx="7680960" cy="0"/>
          </a:xfrm>
          <a:prstGeom prst="line">
            <a:avLst/>
          </a:prstGeom>
          <a:noFill/>
          <a:ln w="12700">
            <a:solidFill>
              <a:srgbClr val="E2E2E2"/>
            </a:solidFill>
            <a:prstDash val="solid"/>
          </a:ln>
        </p:spPr>
      </p:sp>
      <p:sp>
        <p:nvSpPr>
          <p:cNvPr id="13" name="Text 11"/>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4" name="Text 12"/>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14 / 20</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15 — REQUIREMENTS</a:t>
            </a:r>
            <a:endParaRPr lang="en-US" sz="1000" dirty="0"/>
          </a:p>
        </p:txBody>
      </p:sp>
      <p:sp>
        <p:nvSpPr>
          <p:cNvPr id="4" name="Text 2"/>
          <p:cNvSpPr/>
          <p:nvPr/>
        </p:nvSpPr>
        <p:spPr>
          <a:xfrm>
            <a:off x="731520" y="1280160"/>
            <a:ext cx="3657600" cy="1097280"/>
          </a:xfrm>
          <a:prstGeom prst="rect">
            <a:avLst/>
          </a:prstGeom>
          <a:noFill/>
          <a:ln/>
        </p:spPr>
        <p:txBody>
          <a:bodyPr wrap="square" rtlCol="0" anchor="ctr"/>
          <a:lstStyle/>
          <a:p>
            <a:pPr indent="0" marL="0">
              <a:buNone/>
            </a:pPr>
            <a:r>
              <a:rPr lang="en-US" sz="2400" b="1" dirty="0">
                <a:solidFill>
                  <a:srgbClr val="000000"/>
                </a:solidFill>
                <a:latin typeface="Helvetica" pitchFamily="34" charset="0"/>
                <a:ea typeface="Helvetica" pitchFamily="34" charset="-122"/>
                <a:cs typeface="Helvetica" pitchFamily="34" charset="-120"/>
              </a:rPr>
              <a:t>Clear, transparent collaboration requirements.</a:t>
            </a:r>
            <a:endParaRPr lang="en-US" sz="2400" dirty="0"/>
          </a:p>
        </p:txBody>
      </p:sp>
      <p:sp>
        <p:nvSpPr>
          <p:cNvPr id="5" name="Text 3"/>
          <p:cNvSpPr/>
          <p:nvPr/>
        </p:nvSpPr>
        <p:spPr>
          <a:xfrm>
            <a:off x="731520" y="2560320"/>
            <a:ext cx="3657600" cy="1371600"/>
          </a:xfrm>
          <a:prstGeom prst="rect">
            <a:avLst/>
          </a:prstGeom>
          <a:noFill/>
          <a:ln/>
        </p:spPr>
        <p:txBody>
          <a:bodyPr wrap="square" rtlCol="0" anchor="ctr"/>
          <a:lstStyle/>
          <a:p>
            <a:pPr indent="0" marL="0">
              <a:buNone/>
            </a:pPr>
            <a:r>
              <a:rPr lang="en-US" sz="1300" dirty="0">
                <a:solidFill>
                  <a:srgbClr val="555555"/>
                </a:solidFill>
                <a:latin typeface="Helvetica" pitchFamily="34" charset="0"/>
                <a:ea typeface="Helvetica" pitchFamily="34" charset="-122"/>
                <a:cs typeface="Helvetica" pitchFamily="34" charset="-120"/>
              </a:rPr>
              <a:t>We believe in straightforward partnerships built on mutual alignment and respectful execution.</a:t>
            </a:r>
            <a:endParaRPr lang="en-US" sz="1300" dirty="0"/>
          </a:p>
        </p:txBody>
      </p:sp>
      <p:sp>
        <p:nvSpPr>
          <p:cNvPr id="6" name="Text 4"/>
          <p:cNvSpPr/>
          <p:nvPr/>
        </p:nvSpPr>
        <p:spPr>
          <a:xfrm>
            <a:off x="4754880" y="1463040"/>
            <a:ext cx="3657600" cy="45720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01  ₹50,000 or above contribution</a:t>
            </a:r>
            <a:endParaRPr lang="en-US" sz="1500" dirty="0"/>
          </a:p>
        </p:txBody>
      </p:sp>
      <p:sp>
        <p:nvSpPr>
          <p:cNvPr id="7" name="Shape 5"/>
          <p:cNvSpPr/>
          <p:nvPr/>
        </p:nvSpPr>
        <p:spPr>
          <a:xfrm>
            <a:off x="4754880" y="2011680"/>
            <a:ext cx="3657600" cy="0"/>
          </a:xfrm>
          <a:prstGeom prst="line">
            <a:avLst/>
          </a:prstGeom>
          <a:noFill/>
          <a:ln w="12700">
            <a:solidFill>
              <a:srgbClr val="E2E2E2"/>
            </a:solidFill>
            <a:prstDash val="solid"/>
          </a:ln>
        </p:spPr>
      </p:sp>
      <p:sp>
        <p:nvSpPr>
          <p:cNvPr id="8" name="Text 6"/>
          <p:cNvSpPr/>
          <p:nvPr/>
        </p:nvSpPr>
        <p:spPr>
          <a:xfrm>
            <a:off x="4754880" y="2377440"/>
            <a:ext cx="3657600" cy="45720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02  Timely financial/asset processing</a:t>
            </a:r>
            <a:endParaRPr lang="en-US" sz="1500" dirty="0"/>
          </a:p>
        </p:txBody>
      </p:sp>
      <p:sp>
        <p:nvSpPr>
          <p:cNvPr id="9" name="Shape 7"/>
          <p:cNvSpPr/>
          <p:nvPr/>
        </p:nvSpPr>
        <p:spPr>
          <a:xfrm>
            <a:off x="4754880" y="2926080"/>
            <a:ext cx="3657600" cy="0"/>
          </a:xfrm>
          <a:prstGeom prst="line">
            <a:avLst/>
          </a:prstGeom>
          <a:noFill/>
          <a:ln w="12700">
            <a:solidFill>
              <a:srgbClr val="E2E2E2"/>
            </a:solidFill>
            <a:prstDash val="solid"/>
          </a:ln>
        </p:spPr>
      </p:sp>
      <p:sp>
        <p:nvSpPr>
          <p:cNvPr id="10" name="Text 8"/>
          <p:cNvSpPr/>
          <p:nvPr/>
        </p:nvSpPr>
        <p:spPr>
          <a:xfrm>
            <a:off x="4754880" y="3291840"/>
            <a:ext cx="3657600" cy="45720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03  Alignment on brand guidelines</a:t>
            </a:r>
            <a:endParaRPr lang="en-US" sz="1500" dirty="0"/>
          </a:p>
        </p:txBody>
      </p:sp>
      <p:sp>
        <p:nvSpPr>
          <p:cNvPr id="11" name="Shape 9"/>
          <p:cNvSpPr/>
          <p:nvPr/>
        </p:nvSpPr>
        <p:spPr>
          <a:xfrm>
            <a:off x="4754880" y="3840480"/>
            <a:ext cx="3657600" cy="0"/>
          </a:xfrm>
          <a:prstGeom prst="line">
            <a:avLst/>
          </a:prstGeom>
          <a:noFill/>
          <a:ln w="12700">
            <a:solidFill>
              <a:srgbClr val="E2E2E2"/>
            </a:solidFill>
            <a:prstDash val="solid"/>
          </a:ln>
        </p:spPr>
      </p:sp>
      <p:sp>
        <p:nvSpPr>
          <p:cNvPr id="12" name="Shape 10"/>
          <p:cNvSpPr/>
          <p:nvPr/>
        </p:nvSpPr>
        <p:spPr>
          <a:xfrm>
            <a:off x="731520" y="4526280"/>
            <a:ext cx="7680960" cy="0"/>
          </a:xfrm>
          <a:prstGeom prst="line">
            <a:avLst/>
          </a:prstGeom>
          <a:noFill/>
          <a:ln w="12700">
            <a:solidFill>
              <a:srgbClr val="E2E2E2"/>
            </a:solidFill>
            <a:prstDash val="solid"/>
          </a:ln>
        </p:spPr>
      </p:sp>
      <p:sp>
        <p:nvSpPr>
          <p:cNvPr id="13" name="Text 11"/>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4" name="Text 12"/>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15 / 20</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16 — FUND ALLOCATION</a:t>
            </a:r>
            <a:endParaRPr lang="en-US" sz="1000" dirty="0"/>
          </a:p>
        </p:txBody>
      </p:sp>
      <p:sp>
        <p:nvSpPr>
          <p:cNvPr id="4" name="Shape 2"/>
          <p:cNvSpPr/>
          <p:nvPr/>
        </p:nvSpPr>
        <p:spPr>
          <a:xfrm>
            <a:off x="731520" y="1645920"/>
            <a:ext cx="1783080" cy="2560320"/>
          </a:xfrm>
          <a:prstGeom prst="rect">
            <a:avLst/>
          </a:prstGeom>
          <a:solidFill>
            <a:srgbClr val="F9F9FB"/>
          </a:solidFill>
          <a:ln w="12700">
            <a:solidFill>
              <a:srgbClr val="E2E2E2"/>
            </a:solidFill>
            <a:prstDash val="solid"/>
          </a:ln>
        </p:spPr>
      </p:sp>
      <p:sp>
        <p:nvSpPr>
          <p:cNvPr id="5" name="Text 3"/>
          <p:cNvSpPr/>
          <p:nvPr/>
        </p:nvSpPr>
        <p:spPr>
          <a:xfrm>
            <a:off x="868680" y="1920240"/>
            <a:ext cx="1508760" cy="274320"/>
          </a:xfrm>
          <a:prstGeom prst="rect">
            <a:avLst/>
          </a:prstGeom>
          <a:noFill/>
          <a:ln/>
        </p:spPr>
        <p:txBody>
          <a:bodyPr wrap="square" rtlCol="0" anchor="ctr"/>
          <a:lstStyle/>
          <a:p>
            <a:pPr indent="0" marL="0">
              <a:buNone/>
            </a:pPr>
            <a:r>
              <a:rPr lang="en-US" sz="1200" b="1" dirty="0">
                <a:solidFill>
                  <a:srgbClr val="EB0028"/>
                </a:solidFill>
                <a:latin typeface="Helvetica" pitchFamily="34" charset="0"/>
                <a:ea typeface="Helvetica" pitchFamily="34" charset="-122"/>
                <a:cs typeface="Helvetica" pitchFamily="34" charset="-120"/>
              </a:rPr>
              <a:t>01</a:t>
            </a:r>
            <a:endParaRPr lang="en-US" sz="1200" dirty="0"/>
          </a:p>
        </p:txBody>
      </p:sp>
      <p:sp>
        <p:nvSpPr>
          <p:cNvPr id="6" name="Text 4"/>
          <p:cNvSpPr/>
          <p:nvPr/>
        </p:nvSpPr>
        <p:spPr>
          <a:xfrm>
            <a:off x="868680" y="2286000"/>
            <a:ext cx="1508760" cy="54864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Infrastructure</a:t>
            </a:r>
            <a:endParaRPr lang="en-US" sz="1500" dirty="0"/>
          </a:p>
        </p:txBody>
      </p:sp>
      <p:sp>
        <p:nvSpPr>
          <p:cNvPr id="7" name="Text 5"/>
          <p:cNvSpPr/>
          <p:nvPr/>
        </p:nvSpPr>
        <p:spPr>
          <a:xfrm>
            <a:off x="868680" y="2926080"/>
            <a:ext cx="1508760" cy="1097280"/>
          </a:xfrm>
          <a:prstGeom prst="rect">
            <a:avLst/>
          </a:prstGeom>
          <a:noFill/>
          <a:ln/>
        </p:spPr>
        <p:txBody>
          <a:bodyPr wrap="square" rtlCol="0" anchor="ctr"/>
          <a:lstStyle/>
          <a:p>
            <a:pPr indent="0" marL="0">
              <a:buNone/>
            </a:pPr>
            <a:r>
              <a:rPr lang="en-US" sz="1100" dirty="0">
                <a:solidFill>
                  <a:srgbClr val="555555"/>
                </a:solidFill>
                <a:latin typeface="Helvetica" pitchFamily="34" charset="0"/>
                <a:ea typeface="Helvetica" pitchFamily="34" charset="-122"/>
                <a:cs typeface="Helvetica" pitchFamily="34" charset="-120"/>
              </a:rPr>
              <a:t>Venue styling, seating, and audio-visual setups.</a:t>
            </a:r>
            <a:endParaRPr lang="en-US" sz="1100" dirty="0"/>
          </a:p>
        </p:txBody>
      </p:sp>
      <p:sp>
        <p:nvSpPr>
          <p:cNvPr id="8" name="Shape 6"/>
          <p:cNvSpPr/>
          <p:nvPr/>
        </p:nvSpPr>
        <p:spPr>
          <a:xfrm>
            <a:off x="2697480" y="1645920"/>
            <a:ext cx="1783080" cy="2560320"/>
          </a:xfrm>
          <a:prstGeom prst="rect">
            <a:avLst/>
          </a:prstGeom>
          <a:solidFill>
            <a:srgbClr val="F9F9FB"/>
          </a:solidFill>
          <a:ln w="12700">
            <a:solidFill>
              <a:srgbClr val="E2E2E2"/>
            </a:solidFill>
            <a:prstDash val="solid"/>
          </a:ln>
        </p:spPr>
      </p:sp>
      <p:sp>
        <p:nvSpPr>
          <p:cNvPr id="9" name="Text 7"/>
          <p:cNvSpPr/>
          <p:nvPr/>
        </p:nvSpPr>
        <p:spPr>
          <a:xfrm>
            <a:off x="2834640" y="1920240"/>
            <a:ext cx="1508760" cy="274320"/>
          </a:xfrm>
          <a:prstGeom prst="rect">
            <a:avLst/>
          </a:prstGeom>
          <a:noFill/>
          <a:ln/>
        </p:spPr>
        <p:txBody>
          <a:bodyPr wrap="square" rtlCol="0" anchor="ctr"/>
          <a:lstStyle/>
          <a:p>
            <a:pPr indent="0" marL="0">
              <a:buNone/>
            </a:pPr>
            <a:r>
              <a:rPr lang="en-US" sz="1200" b="1" dirty="0">
                <a:solidFill>
                  <a:srgbClr val="EB0028"/>
                </a:solidFill>
                <a:latin typeface="Helvetica" pitchFamily="34" charset="0"/>
                <a:ea typeface="Helvetica" pitchFamily="34" charset="-122"/>
                <a:cs typeface="Helvetica" pitchFamily="34" charset="-120"/>
              </a:rPr>
              <a:t>02</a:t>
            </a:r>
            <a:endParaRPr lang="en-US" sz="1200" dirty="0"/>
          </a:p>
        </p:txBody>
      </p:sp>
      <p:sp>
        <p:nvSpPr>
          <p:cNvPr id="10" name="Text 8"/>
          <p:cNvSpPr/>
          <p:nvPr/>
        </p:nvSpPr>
        <p:spPr>
          <a:xfrm>
            <a:off x="2834640" y="2286000"/>
            <a:ext cx="1508760" cy="54864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Production</a:t>
            </a:r>
            <a:endParaRPr lang="en-US" sz="1500" dirty="0"/>
          </a:p>
        </p:txBody>
      </p:sp>
      <p:sp>
        <p:nvSpPr>
          <p:cNvPr id="11" name="Text 9"/>
          <p:cNvSpPr/>
          <p:nvPr/>
        </p:nvSpPr>
        <p:spPr>
          <a:xfrm>
            <a:off x="2834640" y="2926080"/>
            <a:ext cx="1508760" cy="1097280"/>
          </a:xfrm>
          <a:prstGeom prst="rect">
            <a:avLst/>
          </a:prstGeom>
          <a:noFill/>
          <a:ln/>
        </p:spPr>
        <p:txBody>
          <a:bodyPr wrap="square" rtlCol="0" anchor="ctr"/>
          <a:lstStyle/>
          <a:p>
            <a:pPr indent="0" marL="0">
              <a:buNone/>
            </a:pPr>
            <a:r>
              <a:rPr lang="en-US" sz="1100" dirty="0">
                <a:solidFill>
                  <a:srgbClr val="555555"/>
                </a:solidFill>
                <a:latin typeface="Helvetica" pitchFamily="34" charset="0"/>
                <a:ea typeface="Helvetica" pitchFamily="34" charset="-122"/>
                <a:cs typeface="Helvetica" pitchFamily="34" charset="-120"/>
              </a:rPr>
              <a:t>Livestreaming setup, lighting, and recording.</a:t>
            </a:r>
            <a:endParaRPr lang="en-US" sz="1100" dirty="0"/>
          </a:p>
        </p:txBody>
      </p:sp>
      <p:sp>
        <p:nvSpPr>
          <p:cNvPr id="12" name="Shape 10"/>
          <p:cNvSpPr/>
          <p:nvPr/>
        </p:nvSpPr>
        <p:spPr>
          <a:xfrm>
            <a:off x="4663440" y="1645920"/>
            <a:ext cx="1783080" cy="2560320"/>
          </a:xfrm>
          <a:prstGeom prst="rect">
            <a:avLst/>
          </a:prstGeom>
          <a:solidFill>
            <a:srgbClr val="F9F9FB"/>
          </a:solidFill>
          <a:ln w="12700">
            <a:solidFill>
              <a:srgbClr val="E2E2E2"/>
            </a:solidFill>
            <a:prstDash val="solid"/>
          </a:ln>
        </p:spPr>
      </p:sp>
      <p:sp>
        <p:nvSpPr>
          <p:cNvPr id="13" name="Text 11"/>
          <p:cNvSpPr/>
          <p:nvPr/>
        </p:nvSpPr>
        <p:spPr>
          <a:xfrm>
            <a:off x="4800600" y="1920240"/>
            <a:ext cx="1508760" cy="274320"/>
          </a:xfrm>
          <a:prstGeom prst="rect">
            <a:avLst/>
          </a:prstGeom>
          <a:noFill/>
          <a:ln/>
        </p:spPr>
        <p:txBody>
          <a:bodyPr wrap="square" rtlCol="0" anchor="ctr"/>
          <a:lstStyle/>
          <a:p>
            <a:pPr indent="0" marL="0">
              <a:buNone/>
            </a:pPr>
            <a:r>
              <a:rPr lang="en-US" sz="1200" b="1" dirty="0">
                <a:solidFill>
                  <a:srgbClr val="EB0028"/>
                </a:solidFill>
                <a:latin typeface="Helvetica" pitchFamily="34" charset="0"/>
                <a:ea typeface="Helvetica" pitchFamily="34" charset="-122"/>
                <a:cs typeface="Helvetica" pitchFamily="34" charset="-120"/>
              </a:rPr>
              <a:t>03</a:t>
            </a:r>
            <a:endParaRPr lang="en-US" sz="1200" dirty="0"/>
          </a:p>
        </p:txBody>
      </p:sp>
      <p:sp>
        <p:nvSpPr>
          <p:cNvPr id="14" name="Text 12"/>
          <p:cNvSpPr/>
          <p:nvPr/>
        </p:nvSpPr>
        <p:spPr>
          <a:xfrm>
            <a:off x="4800600" y="2286000"/>
            <a:ext cx="1508760" cy="54864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Speaker Care</a:t>
            </a:r>
            <a:endParaRPr lang="en-US" sz="1500" dirty="0"/>
          </a:p>
        </p:txBody>
      </p:sp>
      <p:sp>
        <p:nvSpPr>
          <p:cNvPr id="15" name="Text 13"/>
          <p:cNvSpPr/>
          <p:nvPr/>
        </p:nvSpPr>
        <p:spPr>
          <a:xfrm>
            <a:off x="4800600" y="2926080"/>
            <a:ext cx="1508760" cy="1097280"/>
          </a:xfrm>
          <a:prstGeom prst="rect">
            <a:avLst/>
          </a:prstGeom>
          <a:noFill/>
          <a:ln/>
        </p:spPr>
        <p:txBody>
          <a:bodyPr wrap="square" rtlCol="0" anchor="ctr"/>
          <a:lstStyle/>
          <a:p>
            <a:pPr indent="0" marL="0">
              <a:buNone/>
            </a:pPr>
            <a:r>
              <a:rPr lang="en-US" sz="1100" dirty="0">
                <a:solidFill>
                  <a:srgbClr val="555555"/>
                </a:solidFill>
                <a:latin typeface="Helvetica" pitchFamily="34" charset="0"/>
                <a:ea typeface="Helvetica" pitchFamily="34" charset="-122"/>
                <a:cs typeface="Helvetica" pitchFamily="34" charset="-120"/>
              </a:rPr>
              <a:t>Hospitality, travel, and speaker lounge coordination.</a:t>
            </a:r>
            <a:endParaRPr lang="en-US" sz="1100" dirty="0"/>
          </a:p>
        </p:txBody>
      </p:sp>
      <p:sp>
        <p:nvSpPr>
          <p:cNvPr id="16" name="Shape 14"/>
          <p:cNvSpPr/>
          <p:nvPr/>
        </p:nvSpPr>
        <p:spPr>
          <a:xfrm>
            <a:off x="6629400" y="1645920"/>
            <a:ext cx="1783080" cy="2560320"/>
          </a:xfrm>
          <a:prstGeom prst="rect">
            <a:avLst/>
          </a:prstGeom>
          <a:solidFill>
            <a:srgbClr val="F9F9FB"/>
          </a:solidFill>
          <a:ln w="12700">
            <a:solidFill>
              <a:srgbClr val="E2E2E2"/>
            </a:solidFill>
            <a:prstDash val="solid"/>
          </a:ln>
        </p:spPr>
      </p:sp>
      <p:sp>
        <p:nvSpPr>
          <p:cNvPr id="17" name="Text 15"/>
          <p:cNvSpPr/>
          <p:nvPr/>
        </p:nvSpPr>
        <p:spPr>
          <a:xfrm>
            <a:off x="6766560" y="1920240"/>
            <a:ext cx="1508760" cy="274320"/>
          </a:xfrm>
          <a:prstGeom prst="rect">
            <a:avLst/>
          </a:prstGeom>
          <a:noFill/>
          <a:ln/>
        </p:spPr>
        <p:txBody>
          <a:bodyPr wrap="square" rtlCol="0" anchor="ctr"/>
          <a:lstStyle/>
          <a:p>
            <a:pPr indent="0" marL="0">
              <a:buNone/>
            </a:pPr>
            <a:r>
              <a:rPr lang="en-US" sz="1200" b="1" dirty="0">
                <a:solidFill>
                  <a:srgbClr val="EB0028"/>
                </a:solidFill>
                <a:latin typeface="Helvetica" pitchFamily="34" charset="0"/>
                <a:ea typeface="Helvetica" pitchFamily="34" charset="-122"/>
                <a:cs typeface="Helvetica" pitchFamily="34" charset="-120"/>
              </a:rPr>
              <a:t>04</a:t>
            </a:r>
            <a:endParaRPr lang="en-US" sz="1200" dirty="0"/>
          </a:p>
        </p:txBody>
      </p:sp>
      <p:sp>
        <p:nvSpPr>
          <p:cNvPr id="18" name="Text 16"/>
          <p:cNvSpPr/>
          <p:nvPr/>
        </p:nvSpPr>
        <p:spPr>
          <a:xfrm>
            <a:off x="6766560" y="2286000"/>
            <a:ext cx="1508760" cy="548640"/>
          </a:xfrm>
          <a:prstGeom prst="rect">
            <a:avLst/>
          </a:prstGeom>
          <a:noFill/>
          <a:ln/>
        </p:spPr>
        <p:txBody>
          <a:bodyPr wrap="square" rtlCol="0" anchor="ctr"/>
          <a:lstStyle/>
          <a:p>
            <a:pPr indent="0" marL="0">
              <a:buNone/>
            </a:pPr>
            <a:r>
              <a:rPr lang="en-US" sz="1500" b="1" dirty="0">
                <a:solidFill>
                  <a:srgbClr val="000000"/>
                </a:solidFill>
                <a:latin typeface="Helvetica" pitchFamily="34" charset="0"/>
                <a:ea typeface="Helvetica" pitchFamily="34" charset="-122"/>
                <a:cs typeface="Helvetica" pitchFamily="34" charset="-120"/>
              </a:rPr>
              <a:t>Engagement</a:t>
            </a:r>
            <a:endParaRPr lang="en-US" sz="1500" dirty="0"/>
          </a:p>
        </p:txBody>
      </p:sp>
      <p:sp>
        <p:nvSpPr>
          <p:cNvPr id="19" name="Text 17"/>
          <p:cNvSpPr/>
          <p:nvPr/>
        </p:nvSpPr>
        <p:spPr>
          <a:xfrm>
            <a:off x="6766560" y="2926080"/>
            <a:ext cx="1508760" cy="1097280"/>
          </a:xfrm>
          <a:prstGeom prst="rect">
            <a:avLst/>
          </a:prstGeom>
          <a:noFill/>
          <a:ln/>
        </p:spPr>
        <p:txBody>
          <a:bodyPr wrap="square" rtlCol="0" anchor="ctr"/>
          <a:lstStyle/>
          <a:p>
            <a:pPr indent="0" marL="0">
              <a:buNone/>
            </a:pPr>
            <a:r>
              <a:rPr lang="en-US" sz="1100" dirty="0">
                <a:solidFill>
                  <a:srgbClr val="555555"/>
                </a:solidFill>
                <a:latin typeface="Helvetica" pitchFamily="34" charset="0"/>
                <a:ea typeface="Helvetica" pitchFamily="34" charset="-122"/>
                <a:cs typeface="Helvetica" pitchFamily="34" charset="-120"/>
              </a:rPr>
              <a:t>Interactive delegate kits and workshop resources.</a:t>
            </a:r>
            <a:endParaRPr lang="en-US" sz="1100" dirty="0"/>
          </a:p>
        </p:txBody>
      </p:sp>
      <p:sp>
        <p:nvSpPr>
          <p:cNvPr id="20" name="Shape 18"/>
          <p:cNvSpPr/>
          <p:nvPr/>
        </p:nvSpPr>
        <p:spPr>
          <a:xfrm>
            <a:off x="731520" y="4526280"/>
            <a:ext cx="7680960" cy="0"/>
          </a:xfrm>
          <a:prstGeom prst="line">
            <a:avLst/>
          </a:prstGeom>
          <a:noFill/>
          <a:ln w="12700">
            <a:solidFill>
              <a:srgbClr val="E2E2E2"/>
            </a:solidFill>
            <a:prstDash val="solid"/>
          </a:ln>
        </p:spPr>
      </p:sp>
      <p:sp>
        <p:nvSpPr>
          <p:cNvPr id="21" name="Text 19"/>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22" name="Text 20"/>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16 / 20</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17 — AUTHORIZATION</a:t>
            </a:r>
            <a:endParaRPr lang="en-US" sz="1000" dirty="0"/>
          </a:p>
        </p:txBody>
      </p:sp>
      <p:sp>
        <p:nvSpPr>
          <p:cNvPr id="4" name="Text 2"/>
          <p:cNvSpPr/>
          <p:nvPr/>
        </p:nvSpPr>
        <p:spPr>
          <a:xfrm>
            <a:off x="731520" y="1097280"/>
            <a:ext cx="3657600" cy="274320"/>
          </a:xfrm>
          <a:prstGeom prst="rect">
            <a:avLst/>
          </a:prstGeom>
          <a:noFill/>
          <a:ln/>
        </p:spPr>
        <p:txBody>
          <a:bodyPr wrap="square" rtlCol="0" anchor="ctr"/>
          <a:lstStyle/>
          <a:p>
            <a:pPr indent="0" marL="0">
              <a:buNone/>
            </a:pPr>
            <a:r>
              <a:rPr lang="en-US" sz="1000" b="1" dirty="0">
                <a:solidFill>
                  <a:srgbClr val="EB0028"/>
                </a:solidFill>
                <a:latin typeface="Helvetica" pitchFamily="34" charset="0"/>
                <a:ea typeface="Helvetica" pitchFamily="34" charset="-122"/>
                <a:cs typeface="Helvetica" pitchFamily="34" charset="-120"/>
              </a:rPr>
              <a:t>OFFICIAL CONFIRMATION</a:t>
            </a:r>
            <a:endParaRPr lang="en-US" sz="1000" dirty="0"/>
          </a:p>
        </p:txBody>
      </p:sp>
      <p:sp>
        <p:nvSpPr>
          <p:cNvPr id="5" name="Text 3"/>
          <p:cNvSpPr/>
          <p:nvPr/>
        </p:nvSpPr>
        <p:spPr>
          <a:xfrm>
            <a:off x="731520" y="1463040"/>
            <a:ext cx="3657600" cy="1371600"/>
          </a:xfrm>
          <a:prstGeom prst="rect">
            <a:avLst/>
          </a:prstGeom>
          <a:noFill/>
          <a:ln/>
        </p:spPr>
        <p:txBody>
          <a:bodyPr wrap="square" rtlCol="0" anchor="ctr"/>
          <a:lstStyle/>
          <a:p>
            <a:pPr indent="0" marL="0">
              <a:buNone/>
            </a:pPr>
            <a:r>
              <a:rPr lang="en-US" sz="1800" b="1" dirty="0">
                <a:solidFill>
                  <a:srgbClr val="000000"/>
                </a:solidFill>
                <a:latin typeface="Helvetica" pitchFamily="34" charset="0"/>
                <a:ea typeface="Helvetica" pitchFamily="34" charset="-122"/>
                <a:cs typeface="Helvetica" pitchFamily="34" charset="-120"/>
              </a:rPr>
              <a:t>TEDx Applications confirmed approval of the TEDxPORPS Youth license on 21 August 2026.</a:t>
            </a:r>
            <a:endParaRPr lang="en-US" sz="1800" dirty="0"/>
          </a:p>
        </p:txBody>
      </p:sp>
      <p:sp>
        <p:nvSpPr>
          <p:cNvPr id="6" name="Text 4"/>
          <p:cNvSpPr/>
          <p:nvPr/>
        </p:nvSpPr>
        <p:spPr>
          <a:xfrm>
            <a:off x="731520" y="3017520"/>
            <a:ext cx="3657600" cy="1097280"/>
          </a:xfrm>
          <a:prstGeom prst="rect">
            <a:avLst/>
          </a:prstGeom>
          <a:noFill/>
          <a:ln/>
        </p:spPr>
        <p:txBody>
          <a:bodyPr wrap="square" rtlCol="0" anchor="ctr"/>
          <a:lstStyle/>
          <a:p>
            <a:pPr indent="0" marL="0">
              <a:buNone/>
            </a:pPr>
            <a:r>
              <a:rPr lang="en-US" sz="1300" dirty="0">
                <a:solidFill>
                  <a:srgbClr val="555555"/>
                </a:solidFill>
                <a:latin typeface="Helvetica" pitchFamily="34" charset="0"/>
                <a:ea typeface="Helvetica" pitchFamily="34" charset="-122"/>
                <a:cs typeface="Helvetica" pitchFamily="34" charset="-120"/>
              </a:rPr>
              <a:t>Operating under complete compliance with official TED parameters for independent youth events.</a:t>
            </a:r>
            <a:endParaRPr lang="en-US" sz="1300" dirty="0"/>
          </a:p>
        </p:txBody>
      </p:sp>
      <p:pic>
        <p:nvPicPr>
          <p:cNvPr id="7" name="Image 0" descr="/Users/ruthwikreddy/tedx/public/images/tedx-license.png">    </p:cNvPr>
          <p:cNvPicPr>
            <a:picLocks noChangeAspect="1"/>
          </p:cNvPicPr>
          <p:nvPr/>
        </p:nvPicPr>
        <p:blipFill>
          <a:blip r:embed="rId1"/>
          <a:srcRect l="0" r="0" t="0" b="0"/>
          <a:stretch/>
        </p:blipFill>
        <p:spPr>
          <a:xfrm>
            <a:off x="4754880" y="1097280"/>
            <a:ext cx="3657600" cy="3200400"/>
          </a:xfrm>
          <a:prstGeom prst="rect">
            <a:avLst/>
          </a:prstGeom>
        </p:spPr>
      </p:pic>
      <p:sp>
        <p:nvSpPr>
          <p:cNvPr id="8" name="Shape 5"/>
          <p:cNvSpPr/>
          <p:nvPr/>
        </p:nvSpPr>
        <p:spPr>
          <a:xfrm>
            <a:off x="731520" y="4526280"/>
            <a:ext cx="7680960" cy="0"/>
          </a:xfrm>
          <a:prstGeom prst="line">
            <a:avLst/>
          </a:prstGeom>
          <a:noFill/>
          <a:ln w="12700">
            <a:solidFill>
              <a:srgbClr val="E2E2E2"/>
            </a:solidFill>
            <a:prstDash val="solid"/>
          </a:ln>
        </p:spPr>
      </p:sp>
      <p:sp>
        <p:nvSpPr>
          <p:cNvPr id="9" name="Text 6"/>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10" name="Text 7"/>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17 / 20</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FFFFFF"/>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AAAAAA"/>
                </a:solidFill>
                <a:latin typeface="Helvetica" pitchFamily="34" charset="0"/>
                <a:ea typeface="Helvetica" pitchFamily="34" charset="-122"/>
                <a:cs typeface="Helvetica" pitchFamily="34" charset="-120"/>
              </a:rPr>
              <a:t>18 — CALL TO ACTION</a:t>
            </a:r>
            <a:endParaRPr lang="en-US" sz="1000" dirty="0"/>
          </a:p>
        </p:txBody>
      </p:sp>
      <p:sp>
        <p:nvSpPr>
          <p:cNvPr id="4" name="Shape 2"/>
          <p:cNvSpPr/>
          <p:nvPr/>
        </p:nvSpPr>
        <p:spPr>
          <a:xfrm>
            <a:off x="731520" y="1371600"/>
            <a:ext cx="457200" cy="54864"/>
          </a:xfrm>
          <a:prstGeom prst="rect">
            <a:avLst/>
          </a:prstGeom>
          <a:solidFill>
            <a:srgbClr val="EB0028"/>
          </a:solidFill>
          <a:ln/>
        </p:spPr>
      </p:sp>
      <p:sp>
        <p:nvSpPr>
          <p:cNvPr id="5" name="Text 3"/>
          <p:cNvSpPr/>
          <p:nvPr/>
        </p:nvSpPr>
        <p:spPr>
          <a:xfrm>
            <a:off x="731520" y="1645920"/>
            <a:ext cx="7680960" cy="2560320"/>
          </a:xfrm>
          <a:prstGeom prst="rect">
            <a:avLst/>
          </a:prstGeom>
          <a:noFill/>
          <a:ln/>
        </p:spPr>
        <p:txBody>
          <a:bodyPr wrap="square" rtlCol="0" anchor="ctr"/>
          <a:lstStyle/>
          <a:p>
            <a:pPr indent="0" marL="0">
              <a:lnSpc>
                <a:spcPts val="4600"/>
              </a:lnSpc>
              <a:buNone/>
            </a:pPr>
            <a:r>
              <a:rPr lang="en-US" sz="4400" b="1" dirty="0">
                <a:solidFill>
                  <a:srgbClr val="FFFFFF"/>
                </a:solidFill>
                <a:latin typeface="Helvetica" pitchFamily="34" charset="0"/>
                <a:ea typeface="Helvetica" pitchFamily="34" charset="-122"/>
                <a:cs typeface="Helvetica" pitchFamily="34" charset="-120"/>
              </a:rPr>
              <a:t>JOIN US IN
SUPPORTING
</a:t>
            </a:r>
            <a:pPr indent="0" marL="0">
              <a:lnSpc>
                <a:spcPts val="4600"/>
              </a:lnSpc>
              <a:buNone/>
            </a:pPr>
            <a:r>
              <a:rPr lang="en-US" sz="4400" b="1" dirty="0">
                <a:solidFill>
                  <a:srgbClr val="EB0028"/>
                </a:solidFill>
                <a:latin typeface="Helvetica" pitchFamily="34" charset="0"/>
                <a:ea typeface="Helvetica" pitchFamily="34" charset="-122"/>
                <a:cs typeface="Helvetica" pitchFamily="34" charset="-120"/>
              </a:rPr>
              <a:t>IDEAS WORTH SPREADING.</a:t>
            </a:r>
            <a:endParaRPr lang="en-US" sz="4400" dirty="0"/>
          </a:p>
        </p:txBody>
      </p:sp>
      <p:sp>
        <p:nvSpPr>
          <p:cNvPr id="6" name="Shape 4"/>
          <p:cNvSpPr/>
          <p:nvPr/>
        </p:nvSpPr>
        <p:spPr>
          <a:xfrm>
            <a:off x="731520" y="4526280"/>
            <a:ext cx="7680960" cy="0"/>
          </a:xfrm>
          <a:prstGeom prst="line">
            <a:avLst/>
          </a:prstGeom>
          <a:noFill/>
          <a:ln w="12700">
            <a:solidFill>
              <a:srgbClr val="333333"/>
            </a:solidFill>
            <a:prstDash val="solid"/>
          </a:ln>
        </p:spPr>
      </p:sp>
      <p:sp>
        <p:nvSpPr>
          <p:cNvPr id="7" name="Text 5"/>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FFFFFF"/>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888888"/>
                </a:solidFill>
                <a:latin typeface="Helvetica" pitchFamily="34" charset="0"/>
                <a:ea typeface="Helvetica" pitchFamily="34" charset="-122"/>
                <a:cs typeface="Helvetica" pitchFamily="34" charset="-120"/>
              </a:rPr>
              <a:t> • 21 November 2026</a:t>
            </a:r>
            <a:endParaRPr lang="en-US" sz="1100" dirty="0"/>
          </a:p>
        </p:txBody>
      </p:sp>
      <p:sp>
        <p:nvSpPr>
          <p:cNvPr id="8" name="Text 6"/>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888888"/>
                </a:solidFill>
                <a:latin typeface="Helvetica" pitchFamily="34" charset="0"/>
                <a:ea typeface="Helvetica" pitchFamily="34" charset="-122"/>
                <a:cs typeface="Helvetica" pitchFamily="34" charset="-120"/>
              </a:rPr>
              <a:t>18 / 20</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000000"/>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777777"/>
                </a:solidFill>
                <a:latin typeface="Helvetica" pitchFamily="34" charset="0"/>
                <a:ea typeface="Helvetica" pitchFamily="34" charset="-122"/>
                <a:cs typeface="Helvetica" pitchFamily="34" charset="-120"/>
              </a:rPr>
              <a:t>19 — DIRECT ENQUIRIES</a:t>
            </a:r>
            <a:endParaRPr lang="en-US" sz="1000" dirty="0"/>
          </a:p>
        </p:txBody>
      </p:sp>
      <p:sp>
        <p:nvSpPr>
          <p:cNvPr id="4" name="Text 2"/>
          <p:cNvSpPr/>
          <p:nvPr/>
        </p:nvSpPr>
        <p:spPr>
          <a:xfrm>
            <a:off x="548640" y="1097280"/>
            <a:ext cx="2468880" cy="228600"/>
          </a:xfrm>
          <a:prstGeom prst="rect">
            <a:avLst/>
          </a:prstGeom>
          <a:noFill/>
          <a:ln/>
        </p:spPr>
        <p:txBody>
          <a:bodyPr wrap="square" rtlCol="0" anchor="ctr"/>
          <a:lstStyle/>
          <a:p>
            <a:pPr indent="0" marL="0">
              <a:buNone/>
            </a:pPr>
            <a:r>
              <a:rPr lang="en-US" sz="950" b="1" dirty="0">
                <a:solidFill>
                  <a:srgbClr val="EB0028"/>
                </a:solidFill>
                <a:latin typeface="Helvetica" pitchFamily="34" charset="0"/>
                <a:ea typeface="Helvetica" pitchFamily="34" charset="-122"/>
                <a:cs typeface="Helvetica" pitchFamily="34" charset="-120"/>
              </a:rPr>
              <a:t>CO-ORGANISER</a:t>
            </a:r>
            <a:endParaRPr lang="en-US" sz="950" dirty="0"/>
          </a:p>
        </p:txBody>
      </p:sp>
      <p:sp>
        <p:nvSpPr>
          <p:cNvPr id="5" name="Text 3"/>
          <p:cNvSpPr/>
          <p:nvPr/>
        </p:nvSpPr>
        <p:spPr>
          <a:xfrm>
            <a:off x="548640" y="1371600"/>
            <a:ext cx="2468880" cy="411480"/>
          </a:xfrm>
          <a:prstGeom prst="rect">
            <a:avLst/>
          </a:prstGeom>
          <a:noFill/>
          <a:ln/>
        </p:spPr>
        <p:txBody>
          <a:bodyPr wrap="square" rtlCol="0" anchor="ctr"/>
          <a:lstStyle/>
          <a:p>
            <a:pPr indent="0" marL="0">
              <a:buNone/>
            </a:pPr>
            <a:r>
              <a:rPr lang="en-US" sz="1700" b="1" dirty="0">
                <a:solidFill>
                  <a:srgbClr val="000000"/>
                </a:solidFill>
                <a:latin typeface="Helvetica" pitchFamily="34" charset="0"/>
                <a:ea typeface="Helvetica" pitchFamily="34" charset="-122"/>
                <a:cs typeface="Helvetica" pitchFamily="34" charset="-120"/>
              </a:rPr>
              <a:t>Yelamanchili Ananya</a:t>
            </a:r>
            <a:endParaRPr lang="en-US" sz="1700" dirty="0"/>
          </a:p>
        </p:txBody>
      </p:sp>
      <p:sp>
        <p:nvSpPr>
          <p:cNvPr id="6" name="Text 4"/>
          <p:cNvSpPr/>
          <p:nvPr/>
        </p:nvSpPr>
        <p:spPr>
          <a:xfrm>
            <a:off x="548640" y="1783080"/>
            <a:ext cx="2468880" cy="320040"/>
          </a:xfrm>
          <a:prstGeom prst="rect">
            <a:avLst/>
          </a:prstGeom>
          <a:noFill/>
          <a:ln/>
        </p:spPr>
        <p:txBody>
          <a:bodyPr wrap="square" rtlCol="0" anchor="ctr"/>
          <a:lstStyle/>
          <a:p>
            <a:pPr indent="0" marL="0">
              <a:buNone/>
            </a:pPr>
            <a:r>
              <a:rPr lang="en-US" sz="1100" b="1" dirty="0">
                <a:solidFill>
                  <a:srgbClr val="555555"/>
                </a:solidFill>
                <a:latin typeface="Helvetica" pitchFamily="34" charset="0"/>
                <a:ea typeface="Helvetica" pitchFamily="34" charset="-122"/>
                <a:cs typeface="Helvetica" pitchFamily="34" charset="-120"/>
              </a:rPr>
              <a:t>Co-Organiser, TEDxPORPS Youth 2026</a:t>
            </a:r>
            <a:endParaRPr lang="en-US" sz="1100" dirty="0"/>
          </a:p>
        </p:txBody>
      </p:sp>
      <p:sp>
        <p:nvSpPr>
          <p:cNvPr id="7" name="Text 5"/>
          <p:cNvSpPr/>
          <p:nvPr/>
        </p:nvSpPr>
        <p:spPr>
          <a:xfrm>
            <a:off x="548640" y="2194560"/>
            <a:ext cx="2468880" cy="731520"/>
          </a:xfrm>
          <a:prstGeom prst="rect">
            <a:avLst/>
          </a:prstGeom>
          <a:noFill/>
          <a:ln/>
        </p:spPr>
        <p:txBody>
          <a:bodyPr wrap="square" rtlCol="0" anchor="ctr"/>
          <a:lstStyle/>
          <a:p>
            <a:pPr indent="0" marL="0">
              <a:lnSpc>
                <a:spcPts val="1600"/>
              </a:lnSpc>
              <a:buNone/>
            </a:pPr>
            <a:r>
              <a:rPr lang="en-US" sz="1100" dirty="0">
                <a:solidFill>
                  <a:srgbClr val="000000"/>
                </a:solidFill>
                <a:latin typeface="Helvetica" pitchFamily="34" charset="0"/>
                <a:ea typeface="Helvetica" pitchFamily="34" charset="-122"/>
                <a:cs typeface="Helvetica" pitchFamily="34" charset="-120"/>
              </a:rPr>
              <a:t>Email: yananyaanu@gmail.com</a:t>
            </a:r>
            <a:endParaRPr lang="en-US" sz="1100" dirty="0"/>
          </a:p>
          <a:p>
            <a:pPr indent="0" marL="0">
              <a:lnSpc>
                <a:spcPts val="1600"/>
              </a:lnSpc>
              <a:buNone/>
            </a:pPr>
            <a:r>
              <a:rPr lang="en-US" sz="1100" dirty="0">
                <a:solidFill>
                  <a:srgbClr val="000000"/>
                </a:solidFill>
                <a:latin typeface="Helvetica" pitchFamily="34" charset="0"/>
                <a:ea typeface="Helvetica" pitchFamily="34" charset="-122"/>
                <a:cs typeface="Helvetica" pitchFamily="34" charset="-120"/>
              </a:rPr>
              <a:t>Phone: 8977540506</a:t>
            </a:r>
            <a:endParaRPr lang="en-US" sz="1100" dirty="0"/>
          </a:p>
        </p:txBody>
      </p:sp>
      <p:sp>
        <p:nvSpPr>
          <p:cNvPr id="8" name="Shape 6"/>
          <p:cNvSpPr/>
          <p:nvPr/>
        </p:nvSpPr>
        <p:spPr>
          <a:xfrm>
            <a:off x="3200400" y="1280160"/>
            <a:ext cx="0" cy="2926080"/>
          </a:xfrm>
          <a:prstGeom prst="line">
            <a:avLst/>
          </a:prstGeom>
          <a:noFill/>
          <a:ln w="12700">
            <a:solidFill>
              <a:srgbClr val="E2E2E2"/>
            </a:solidFill>
            <a:prstDash val="solid"/>
          </a:ln>
        </p:spPr>
      </p:sp>
      <p:sp>
        <p:nvSpPr>
          <p:cNvPr id="9" name="Text 7"/>
          <p:cNvSpPr/>
          <p:nvPr/>
        </p:nvSpPr>
        <p:spPr>
          <a:xfrm>
            <a:off x="3474720" y="1097280"/>
            <a:ext cx="2468880" cy="228600"/>
          </a:xfrm>
          <a:prstGeom prst="rect">
            <a:avLst/>
          </a:prstGeom>
          <a:noFill/>
          <a:ln/>
        </p:spPr>
        <p:txBody>
          <a:bodyPr wrap="square" rtlCol="0" anchor="ctr"/>
          <a:lstStyle/>
          <a:p>
            <a:pPr indent="0" marL="0">
              <a:buNone/>
            </a:pPr>
            <a:r>
              <a:rPr lang="en-US" sz="950" b="1" dirty="0">
                <a:solidFill>
                  <a:srgbClr val="EB0028"/>
                </a:solidFill>
                <a:latin typeface="Helvetica" pitchFamily="34" charset="0"/>
                <a:ea typeface="Helvetica" pitchFamily="34" charset="-122"/>
                <a:cs typeface="Helvetica" pitchFamily="34" charset="-120"/>
              </a:rPr>
              <a:t>CO-ORGANISER</a:t>
            </a:r>
            <a:endParaRPr lang="en-US" sz="950" dirty="0"/>
          </a:p>
        </p:txBody>
      </p:sp>
      <p:sp>
        <p:nvSpPr>
          <p:cNvPr id="10" name="Text 8"/>
          <p:cNvSpPr/>
          <p:nvPr/>
        </p:nvSpPr>
        <p:spPr>
          <a:xfrm>
            <a:off x="3474720" y="1371600"/>
            <a:ext cx="2468880" cy="411480"/>
          </a:xfrm>
          <a:prstGeom prst="rect">
            <a:avLst/>
          </a:prstGeom>
          <a:noFill/>
          <a:ln/>
        </p:spPr>
        <p:txBody>
          <a:bodyPr wrap="square" rtlCol="0" anchor="ctr"/>
          <a:lstStyle/>
          <a:p>
            <a:pPr indent="0" marL="0">
              <a:buNone/>
            </a:pPr>
            <a:r>
              <a:rPr lang="en-US" sz="1700" b="1" dirty="0">
                <a:solidFill>
                  <a:srgbClr val="000000"/>
                </a:solidFill>
                <a:latin typeface="Helvetica" pitchFamily="34" charset="0"/>
                <a:ea typeface="Helvetica" pitchFamily="34" charset="-122"/>
                <a:cs typeface="Helvetica" pitchFamily="34" charset="-120"/>
              </a:rPr>
              <a:t>Abhirami Vutla</a:t>
            </a:r>
            <a:endParaRPr lang="en-US" sz="1700" dirty="0"/>
          </a:p>
        </p:txBody>
      </p:sp>
      <p:sp>
        <p:nvSpPr>
          <p:cNvPr id="11" name="Text 9"/>
          <p:cNvSpPr/>
          <p:nvPr/>
        </p:nvSpPr>
        <p:spPr>
          <a:xfrm>
            <a:off x="3474720" y="1783080"/>
            <a:ext cx="2468880" cy="320040"/>
          </a:xfrm>
          <a:prstGeom prst="rect">
            <a:avLst/>
          </a:prstGeom>
          <a:noFill/>
          <a:ln/>
        </p:spPr>
        <p:txBody>
          <a:bodyPr wrap="square" rtlCol="0" anchor="ctr"/>
          <a:lstStyle/>
          <a:p>
            <a:pPr indent="0" marL="0">
              <a:buNone/>
            </a:pPr>
            <a:r>
              <a:rPr lang="en-US" sz="1100" b="1" dirty="0">
                <a:solidFill>
                  <a:srgbClr val="555555"/>
                </a:solidFill>
                <a:latin typeface="Helvetica" pitchFamily="34" charset="0"/>
                <a:ea typeface="Helvetica" pitchFamily="34" charset="-122"/>
                <a:cs typeface="Helvetica" pitchFamily="34" charset="-120"/>
              </a:rPr>
              <a:t>Co-Organiser, TEDxPORPS Youth 2026</a:t>
            </a:r>
            <a:endParaRPr lang="en-US" sz="1100" dirty="0"/>
          </a:p>
        </p:txBody>
      </p:sp>
      <p:sp>
        <p:nvSpPr>
          <p:cNvPr id="12" name="Text 10"/>
          <p:cNvSpPr/>
          <p:nvPr/>
        </p:nvSpPr>
        <p:spPr>
          <a:xfrm>
            <a:off x="3474720" y="2194560"/>
            <a:ext cx="2468880" cy="731520"/>
          </a:xfrm>
          <a:prstGeom prst="rect">
            <a:avLst/>
          </a:prstGeom>
          <a:noFill/>
          <a:ln/>
        </p:spPr>
        <p:txBody>
          <a:bodyPr wrap="square" rtlCol="0" anchor="ctr"/>
          <a:lstStyle/>
          <a:p>
            <a:pPr indent="0" marL="0">
              <a:lnSpc>
                <a:spcPts val="1600"/>
              </a:lnSpc>
              <a:buNone/>
            </a:pPr>
            <a:r>
              <a:rPr lang="en-US" sz="1100" dirty="0">
                <a:solidFill>
                  <a:srgbClr val="000000"/>
                </a:solidFill>
                <a:latin typeface="Helvetica" pitchFamily="34" charset="0"/>
                <a:ea typeface="Helvetica" pitchFamily="34" charset="-122"/>
                <a:cs typeface="Helvetica" pitchFamily="34" charset="-120"/>
              </a:rPr>
              <a:t>Email: Abhiramivutla@gmail.com</a:t>
            </a:r>
            <a:endParaRPr lang="en-US" sz="1100" dirty="0"/>
          </a:p>
          <a:p>
            <a:pPr indent="0" marL="0">
              <a:lnSpc>
                <a:spcPts val="1600"/>
              </a:lnSpc>
              <a:buNone/>
            </a:pPr>
            <a:r>
              <a:rPr lang="en-US" sz="1100" dirty="0">
                <a:solidFill>
                  <a:srgbClr val="000000"/>
                </a:solidFill>
                <a:latin typeface="Helvetica" pitchFamily="34" charset="0"/>
                <a:ea typeface="Helvetica" pitchFamily="34" charset="-122"/>
                <a:cs typeface="Helvetica" pitchFamily="34" charset="-120"/>
              </a:rPr>
              <a:t>Phone: +91 99593 02051</a:t>
            </a:r>
            <a:endParaRPr lang="en-US" sz="1100" dirty="0"/>
          </a:p>
        </p:txBody>
      </p:sp>
      <p:sp>
        <p:nvSpPr>
          <p:cNvPr id="13" name="Shape 11"/>
          <p:cNvSpPr/>
          <p:nvPr/>
        </p:nvSpPr>
        <p:spPr>
          <a:xfrm>
            <a:off x="6126480" y="1280160"/>
            <a:ext cx="0" cy="2926080"/>
          </a:xfrm>
          <a:prstGeom prst="line">
            <a:avLst/>
          </a:prstGeom>
          <a:noFill/>
          <a:ln w="12700">
            <a:solidFill>
              <a:srgbClr val="E2E2E2"/>
            </a:solidFill>
            <a:prstDash val="solid"/>
          </a:ln>
        </p:spPr>
      </p:sp>
      <p:sp>
        <p:nvSpPr>
          <p:cNvPr id="14" name="Text 12"/>
          <p:cNvSpPr/>
          <p:nvPr/>
        </p:nvSpPr>
        <p:spPr>
          <a:xfrm>
            <a:off x="6400800" y="1097280"/>
            <a:ext cx="2468880" cy="228600"/>
          </a:xfrm>
          <a:prstGeom prst="rect">
            <a:avLst/>
          </a:prstGeom>
          <a:noFill/>
          <a:ln/>
        </p:spPr>
        <p:txBody>
          <a:bodyPr wrap="square" rtlCol="0" anchor="ctr"/>
          <a:lstStyle/>
          <a:p>
            <a:pPr indent="0" marL="0">
              <a:buNone/>
            </a:pPr>
            <a:r>
              <a:rPr lang="en-US" sz="950" b="1" dirty="0">
                <a:solidFill>
                  <a:srgbClr val="EB0028"/>
                </a:solidFill>
                <a:latin typeface="Helvetica" pitchFamily="34" charset="0"/>
                <a:ea typeface="Helvetica" pitchFamily="34" charset="-122"/>
                <a:cs typeface="Helvetica" pitchFamily="34" charset="-120"/>
              </a:rPr>
              <a:t>TEACHER ORGANISER</a:t>
            </a:r>
            <a:endParaRPr lang="en-US" sz="950" dirty="0"/>
          </a:p>
        </p:txBody>
      </p:sp>
      <p:sp>
        <p:nvSpPr>
          <p:cNvPr id="15" name="Text 13"/>
          <p:cNvSpPr/>
          <p:nvPr/>
        </p:nvSpPr>
        <p:spPr>
          <a:xfrm>
            <a:off x="6400800" y="1371600"/>
            <a:ext cx="2468880" cy="411480"/>
          </a:xfrm>
          <a:prstGeom prst="rect">
            <a:avLst/>
          </a:prstGeom>
          <a:noFill/>
          <a:ln/>
        </p:spPr>
        <p:txBody>
          <a:bodyPr wrap="square" rtlCol="0" anchor="ctr"/>
          <a:lstStyle/>
          <a:p>
            <a:pPr indent="0" marL="0">
              <a:buNone/>
            </a:pPr>
            <a:r>
              <a:rPr lang="en-US" sz="1700" b="1" dirty="0">
                <a:solidFill>
                  <a:srgbClr val="000000"/>
                </a:solidFill>
                <a:latin typeface="Helvetica" pitchFamily="34" charset="0"/>
                <a:ea typeface="Helvetica" pitchFamily="34" charset="-122"/>
                <a:cs typeface="Helvetica" pitchFamily="34" charset="-120"/>
              </a:rPr>
              <a:t>Ms. C. Shruti Reddy</a:t>
            </a:r>
            <a:endParaRPr lang="en-US" sz="1700" dirty="0"/>
          </a:p>
        </p:txBody>
      </p:sp>
      <p:sp>
        <p:nvSpPr>
          <p:cNvPr id="16" name="Text 14"/>
          <p:cNvSpPr/>
          <p:nvPr/>
        </p:nvSpPr>
        <p:spPr>
          <a:xfrm>
            <a:off x="6400800" y="1783080"/>
            <a:ext cx="2468880" cy="320040"/>
          </a:xfrm>
          <a:prstGeom prst="rect">
            <a:avLst/>
          </a:prstGeom>
          <a:noFill/>
          <a:ln/>
        </p:spPr>
        <p:txBody>
          <a:bodyPr wrap="square" rtlCol="0" anchor="ctr"/>
          <a:lstStyle/>
          <a:p>
            <a:pPr indent="0" marL="0">
              <a:buNone/>
            </a:pPr>
            <a:r>
              <a:rPr lang="en-US" sz="1100" b="1" dirty="0">
                <a:solidFill>
                  <a:srgbClr val="555555"/>
                </a:solidFill>
                <a:latin typeface="Helvetica" pitchFamily="34" charset="0"/>
                <a:ea typeface="Helvetica" pitchFamily="34" charset="-122"/>
                <a:cs typeface="Helvetica" pitchFamily="34" charset="-120"/>
              </a:rPr>
              <a:t>Teacher Organiser, TEDxPORPS Youth 2026</a:t>
            </a:r>
            <a:endParaRPr lang="en-US" sz="1100" dirty="0"/>
          </a:p>
        </p:txBody>
      </p:sp>
      <p:sp>
        <p:nvSpPr>
          <p:cNvPr id="17" name="Text 15"/>
          <p:cNvSpPr/>
          <p:nvPr/>
        </p:nvSpPr>
        <p:spPr>
          <a:xfrm>
            <a:off x="6400800" y="2194560"/>
            <a:ext cx="2468880" cy="731520"/>
          </a:xfrm>
          <a:prstGeom prst="rect">
            <a:avLst/>
          </a:prstGeom>
          <a:noFill/>
          <a:ln/>
        </p:spPr>
        <p:txBody>
          <a:bodyPr wrap="square" rtlCol="0" anchor="ctr"/>
          <a:lstStyle/>
          <a:p>
            <a:pPr indent="0" marL="0">
              <a:lnSpc>
                <a:spcPts val="1600"/>
              </a:lnSpc>
              <a:buNone/>
            </a:pPr>
            <a:r>
              <a:rPr lang="en-US" sz="1100" dirty="0">
                <a:solidFill>
                  <a:srgbClr val="000000"/>
                </a:solidFill>
                <a:latin typeface="Helvetica" pitchFamily="34" charset="0"/>
                <a:ea typeface="Helvetica" pitchFamily="34" charset="-122"/>
                <a:cs typeface="Helvetica" pitchFamily="34" charset="-120"/>
              </a:rPr>
              <a:t>P. Obul Reddy Public School</a:t>
            </a:r>
            <a:endParaRPr lang="en-US" sz="1100" dirty="0"/>
          </a:p>
          <a:p>
            <a:pPr indent="0" marL="0">
              <a:lnSpc>
                <a:spcPts val="1600"/>
              </a:lnSpc>
              <a:buNone/>
            </a:pPr>
            <a:r>
              <a:rPr lang="en-US" sz="1100" dirty="0">
                <a:solidFill>
                  <a:srgbClr val="000000"/>
                </a:solidFill>
                <a:latin typeface="Helvetica" pitchFamily="34" charset="0"/>
                <a:ea typeface="Helvetica" pitchFamily="34" charset="-122"/>
                <a:cs typeface="Helvetica" pitchFamily="34" charset="-120"/>
              </a:rPr>
              <a:t>Phone: +91 91 77071 678</a:t>
            </a:r>
            <a:endParaRPr lang="en-US" sz="1100" dirty="0"/>
          </a:p>
        </p:txBody>
      </p:sp>
      <p:sp>
        <p:nvSpPr>
          <p:cNvPr id="18" name="Shape 16"/>
          <p:cNvSpPr/>
          <p:nvPr/>
        </p:nvSpPr>
        <p:spPr>
          <a:xfrm>
            <a:off x="731520" y="4526280"/>
            <a:ext cx="7680960" cy="0"/>
          </a:xfrm>
          <a:prstGeom prst="line">
            <a:avLst/>
          </a:prstGeom>
          <a:noFill/>
          <a:ln w="12700">
            <a:solidFill>
              <a:srgbClr val="E2E2E2"/>
            </a:solidFill>
            <a:prstDash val="solid"/>
          </a:ln>
        </p:spPr>
      </p:sp>
      <p:sp>
        <p:nvSpPr>
          <p:cNvPr id="19" name="Text 17"/>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000000"/>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555555"/>
                </a:solidFill>
                <a:latin typeface="Helvetica" pitchFamily="34" charset="0"/>
                <a:ea typeface="Helvetica" pitchFamily="34" charset="-122"/>
                <a:cs typeface="Helvetica" pitchFamily="34" charset="-120"/>
              </a:rPr>
              <a:t> • 21 November 2026</a:t>
            </a:r>
            <a:endParaRPr lang="en-US" sz="1100" dirty="0"/>
          </a:p>
        </p:txBody>
      </p:sp>
      <p:sp>
        <p:nvSpPr>
          <p:cNvPr id="20" name="Text 18"/>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555555"/>
                </a:solidFill>
                <a:latin typeface="Helvetica" pitchFamily="34" charset="0"/>
                <a:ea typeface="Helvetica" pitchFamily="34" charset="-122"/>
                <a:cs typeface="Helvetica" pitchFamily="34" charset="-120"/>
              </a:rPr>
              <a:t>19 / 20</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320040"/>
            <a:ext cx="4389120" cy="411480"/>
          </a:xfrm>
          <a:prstGeom prst="rect">
            <a:avLst/>
          </a:prstGeom>
          <a:noFill/>
          <a:ln/>
        </p:spPr>
        <p:txBody>
          <a:bodyPr wrap="square" rtlCol="0" anchor="ctr"/>
          <a:lstStyle/>
          <a:p>
            <a:pPr algn="l" indent="0" marL="0">
              <a:buNone/>
            </a:pPr>
            <a:r>
              <a:rPr lang="en-US" sz="1500" b="1" dirty="0">
                <a:solidFill>
                  <a:srgbClr val="EB0028"/>
                </a:solidFill>
                <a:latin typeface="Helvetica" pitchFamily="34" charset="0"/>
                <a:ea typeface="Helvetica" pitchFamily="34" charset="-122"/>
                <a:cs typeface="Helvetica" pitchFamily="34" charset="-120"/>
              </a:rPr>
              <a:t>TED</a:t>
            </a:r>
            <a:pPr algn="l" indent="0" marL="0">
              <a:buNone/>
            </a:pPr>
            <a:r>
              <a:rPr lang="en-US" sz="1500" b="1" dirty="0">
                <a:solidFill>
                  <a:srgbClr val="EB0028"/>
                </a:solidFill>
                <a:latin typeface="Helvetica" pitchFamily="34" charset="0"/>
                <a:ea typeface="Helvetica" pitchFamily="34" charset="-122"/>
                <a:cs typeface="Helvetica" pitchFamily="34" charset="-120"/>
              </a:rPr>
              <a:t>x</a:t>
            </a:r>
            <a:pPr algn="l" indent="0" marL="0">
              <a:buNone/>
            </a:pPr>
            <a:r>
              <a:rPr lang="en-US" sz="1500" b="1" dirty="0">
                <a:solidFill>
                  <a:srgbClr val="FFFFFF"/>
                </a:solidFill>
                <a:latin typeface="Helvetica" pitchFamily="34" charset="0"/>
                <a:ea typeface="Helvetica" pitchFamily="34" charset="-122"/>
                <a:cs typeface="Helvetica" pitchFamily="34" charset="-120"/>
              </a:rPr>
              <a:t>PORPS </a:t>
            </a:r>
            <a:pPr algn="l" indent="0" marL="0">
              <a:buNone/>
            </a:pPr>
            <a:r>
              <a:rPr lang="en-US" sz="1500" b="1" dirty="0">
                <a:solidFill>
                  <a:srgbClr val="EB0028"/>
                </a:solidFill>
                <a:latin typeface="Helvetica" pitchFamily="34" charset="0"/>
                <a:ea typeface="Helvetica" pitchFamily="34" charset="-122"/>
                <a:cs typeface="Helvetica" pitchFamily="34" charset="-120"/>
              </a:rPr>
              <a:t>Youth</a:t>
            </a:r>
            <a:endParaRPr lang="en-US" sz="1500" dirty="0"/>
          </a:p>
        </p:txBody>
      </p:sp>
      <p:sp>
        <p:nvSpPr>
          <p:cNvPr id="3" name="Text 1"/>
          <p:cNvSpPr/>
          <p:nvPr/>
        </p:nvSpPr>
        <p:spPr>
          <a:xfrm>
            <a:off x="4754880" y="320040"/>
            <a:ext cx="3657600" cy="411480"/>
          </a:xfrm>
          <a:prstGeom prst="rect">
            <a:avLst/>
          </a:prstGeom>
          <a:noFill/>
          <a:ln/>
        </p:spPr>
        <p:txBody>
          <a:bodyPr wrap="square" rtlCol="0" anchor="ctr"/>
          <a:lstStyle/>
          <a:p>
            <a:pPr algn="r" indent="0" marL="0">
              <a:buNone/>
            </a:pPr>
            <a:r>
              <a:rPr lang="en-US" sz="1000" b="1" dirty="0">
                <a:solidFill>
                  <a:srgbClr val="AAAAAA"/>
                </a:solidFill>
                <a:latin typeface="Helvetica" pitchFamily="34" charset="0"/>
                <a:ea typeface="Helvetica" pitchFamily="34" charset="-122"/>
                <a:cs typeface="Helvetica" pitchFamily="34" charset="-120"/>
              </a:rPr>
              <a:t>20 — CONCLUSION</a:t>
            </a:r>
            <a:endParaRPr lang="en-US" sz="1000" dirty="0"/>
          </a:p>
        </p:txBody>
      </p:sp>
      <p:sp>
        <p:nvSpPr>
          <p:cNvPr id="4" name="Shape 2"/>
          <p:cNvSpPr/>
          <p:nvPr/>
        </p:nvSpPr>
        <p:spPr>
          <a:xfrm>
            <a:off x="731520" y="1371600"/>
            <a:ext cx="457200" cy="54864"/>
          </a:xfrm>
          <a:prstGeom prst="rect">
            <a:avLst/>
          </a:prstGeom>
          <a:solidFill>
            <a:srgbClr val="EB0028"/>
          </a:solidFill>
          <a:ln/>
        </p:spPr>
      </p:sp>
      <p:sp>
        <p:nvSpPr>
          <p:cNvPr id="5" name="Text 3"/>
          <p:cNvSpPr/>
          <p:nvPr/>
        </p:nvSpPr>
        <p:spPr>
          <a:xfrm>
            <a:off x="731520" y="1645920"/>
            <a:ext cx="7680960" cy="2194560"/>
          </a:xfrm>
          <a:prstGeom prst="rect">
            <a:avLst/>
          </a:prstGeom>
          <a:noFill/>
          <a:ln/>
        </p:spPr>
        <p:txBody>
          <a:bodyPr wrap="square" rtlCol="0" anchor="ctr"/>
          <a:lstStyle/>
          <a:p>
            <a:pPr indent="0" marL="0">
              <a:lnSpc>
                <a:spcPts val="4600"/>
              </a:lnSpc>
              <a:buNone/>
            </a:pPr>
            <a:r>
              <a:rPr lang="en-US" sz="4400" b="1" dirty="0">
                <a:solidFill>
                  <a:srgbClr val="FFFFFF"/>
                </a:solidFill>
                <a:latin typeface="Helvetica" pitchFamily="34" charset="0"/>
                <a:ea typeface="Helvetica" pitchFamily="34" charset="-122"/>
                <a:cs typeface="Helvetica" pitchFamily="34" charset="-120"/>
              </a:rPr>
              <a:t>THE NEXT IDEA
</a:t>
            </a:r>
            <a:pPr indent="0" marL="0">
              <a:lnSpc>
                <a:spcPts val="4600"/>
              </a:lnSpc>
              <a:buNone/>
            </a:pPr>
            <a:r>
              <a:rPr lang="en-US" sz="4400" b="1" dirty="0">
                <a:solidFill>
                  <a:srgbClr val="EB0028"/>
                </a:solidFill>
                <a:latin typeface="Helvetica" pitchFamily="34" charset="0"/>
                <a:ea typeface="Helvetica" pitchFamily="34" charset="-122"/>
                <a:cs typeface="Helvetica" pitchFamily="34" charset="-120"/>
              </a:rPr>
              <a:t>COULD START HERE.</a:t>
            </a:r>
            <a:endParaRPr lang="en-US" sz="4400" dirty="0"/>
          </a:p>
        </p:txBody>
      </p:sp>
      <p:sp>
        <p:nvSpPr>
          <p:cNvPr id="6" name="Shape 4"/>
          <p:cNvSpPr/>
          <p:nvPr/>
        </p:nvSpPr>
        <p:spPr>
          <a:xfrm>
            <a:off x="731520" y="4526280"/>
            <a:ext cx="7680960" cy="0"/>
          </a:xfrm>
          <a:prstGeom prst="line">
            <a:avLst/>
          </a:prstGeom>
          <a:noFill/>
          <a:ln w="12700">
            <a:solidFill>
              <a:srgbClr val="333333"/>
            </a:solidFill>
            <a:prstDash val="solid"/>
          </a:ln>
        </p:spPr>
      </p:sp>
      <p:sp>
        <p:nvSpPr>
          <p:cNvPr id="7" name="Text 5"/>
          <p:cNvSpPr/>
          <p:nvPr/>
        </p:nvSpPr>
        <p:spPr>
          <a:xfrm>
            <a:off x="731520" y="4617720"/>
            <a:ext cx="4754880" cy="365760"/>
          </a:xfrm>
          <a:prstGeom prst="rect">
            <a:avLst/>
          </a:prstGeom>
          <a:noFill/>
          <a:ln/>
        </p:spPr>
        <p:txBody>
          <a:bodyPr wrap="square" rtlCol="0" anchor="ctr"/>
          <a:lstStyle/>
          <a:p>
            <a:pPr algn="l" indent="0" marL="0">
              <a:buNone/>
            </a:pPr>
            <a:r>
              <a:rPr lang="en-US" sz="1100" b="1" dirty="0">
                <a:solidFill>
                  <a:srgbClr val="FFFFFF"/>
                </a:solidFill>
                <a:latin typeface="Helvetica" pitchFamily="34" charset="0"/>
                <a:ea typeface="Helvetica" pitchFamily="34" charset="-122"/>
                <a:cs typeface="Helvetica" pitchFamily="34" charset="-120"/>
              </a:rPr>
              <a:t>TEDxPORPS </a:t>
            </a:r>
            <a:pPr algn="l" indent="0" marL="0">
              <a:buNone/>
            </a:pPr>
            <a:r>
              <a:rPr lang="en-US" sz="1100" b="1" dirty="0">
                <a:solidFill>
                  <a:srgbClr val="EB0028"/>
                </a:solidFill>
                <a:latin typeface="Helvetica" pitchFamily="34" charset="0"/>
                <a:ea typeface="Helvetica" pitchFamily="34" charset="-122"/>
                <a:cs typeface="Helvetica" pitchFamily="34" charset="-120"/>
              </a:rPr>
              <a:t>Youth</a:t>
            </a:r>
            <a:pPr algn="l" indent="0" marL="0">
              <a:buNone/>
            </a:pPr>
            <a:r>
              <a:rPr lang="en-US" sz="1100" dirty="0">
                <a:solidFill>
                  <a:srgbClr val="888888"/>
                </a:solidFill>
                <a:latin typeface="Helvetica" pitchFamily="34" charset="0"/>
                <a:ea typeface="Helvetica" pitchFamily="34" charset="-122"/>
                <a:cs typeface="Helvetica" pitchFamily="34" charset="-120"/>
              </a:rPr>
              <a:t> • 21 November 2026</a:t>
            </a:r>
            <a:endParaRPr lang="en-US" sz="1100" dirty="0"/>
          </a:p>
        </p:txBody>
      </p:sp>
      <p:sp>
        <p:nvSpPr>
          <p:cNvPr id="8" name="Text 6"/>
          <p:cNvSpPr/>
          <p:nvPr/>
        </p:nvSpPr>
        <p:spPr>
          <a:xfrm>
            <a:off x="5669280" y="4617720"/>
            <a:ext cx="2743200" cy="365760"/>
          </a:xfrm>
          <a:prstGeom prst="rect">
            <a:avLst/>
          </a:prstGeom>
          <a:noFill/>
          <a:ln/>
        </p:spPr>
        <p:txBody>
          <a:bodyPr wrap="square" rtlCol="0" anchor="ctr"/>
          <a:lstStyle/>
          <a:p>
            <a:pPr algn="r" indent="0" marL="0">
              <a:buNone/>
            </a:pPr>
            <a:r>
              <a:rPr lang="en-US" sz="1100" b="1" dirty="0">
                <a:solidFill>
                  <a:srgbClr val="888888"/>
                </a:solidFill>
                <a:latin typeface="Helvetica" pitchFamily="34" charset="0"/>
                <a:ea typeface="Helvetica" pitchFamily="34" charset="-122"/>
                <a:cs typeface="Helvetica" pitchFamily="34" charset="-120"/>
              </a:rPr>
              <a:t>20 / 20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 Obul Reddy Public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TEDxPORPS Youth 2026 — Sponsorship Proposal</dc:title>
  <dc:subject>PptxGenJS Presentation</dc:subject>
  <dc:creator>TEDxPORPS Youth Curatorial Team</dc:creator>
  <cp:lastModifiedBy>TEDxPORPS Youth Curatorial Team</cp:lastModifiedBy>
  <cp:revision>1</cp:revision>
  <dcterms:created xsi:type="dcterms:W3CDTF">2026-09-30T12:53:12Z</dcterms:created>
  <dcterms:modified xsi:type="dcterms:W3CDTF">2026-09-30T12:53:12Z</dcterms:modified>
</cp:coreProperties>
</file>